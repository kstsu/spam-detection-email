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2" y="18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Emails</c:v>
                </c:pt>
              </c:strCache>
            </c:strRef>
          </c:tx>
          <c:spPr>
            <a:solidFill>
              <a:schemeClr val="accent1"/>
            </a:solidFill>
            <a:ln w="9525" cap="flat">
              <a:solidFill>
                <a:srgbClr val="F9F9F9"/>
              </a:solidFill>
              <a:prstDash val="solid"/>
              <a:round/>
            </a:ln>
            <a:effectLst/>
          </c:spPr>
          <c:dPt>
            <c:idx val="0"/>
            <c:bubble3D val="0"/>
            <c:spPr>
              <a:solidFill>
                <a:srgbClr val="17A398"/>
              </a:solidFill>
              <a:ln w="25400" cap="flat">
                <a:solidFill>
                  <a:srgbClr val="FFFFFF"/>
                </a:solidFill>
                <a:prstDash val="solid"/>
                <a:round/>
              </a:ln>
              <a:effectLst/>
            </c:spPr>
            <c:extLst>
              <c:ext xmlns:c16="http://schemas.microsoft.com/office/drawing/2014/chart" uri="{C3380CC4-5D6E-409C-BE32-E72D297353CC}">
                <c16:uniqueId val="{00000001-B3F3-40DE-BCB5-B676CDCC07DC}"/>
              </c:ext>
            </c:extLst>
          </c:dPt>
          <c:dPt>
            <c:idx val="1"/>
            <c:bubble3D val="0"/>
            <c:spPr>
              <a:solidFill>
                <a:srgbClr val="E4572E"/>
              </a:solidFill>
              <a:ln w="25400" cap="flat">
                <a:solidFill>
                  <a:srgbClr val="FFFFFF"/>
                </a:solidFill>
                <a:prstDash val="solid"/>
                <a:round/>
              </a:ln>
              <a:effectLst/>
            </c:spPr>
            <c:extLst>
              <c:ext xmlns:c16="http://schemas.microsoft.com/office/drawing/2014/chart" uri="{C3380CC4-5D6E-409C-BE32-E72D297353CC}">
                <c16:uniqueId val="{00000003-B3F3-40DE-BCB5-B676CDCC07DC}"/>
              </c:ext>
            </c:extLst>
          </c:dPt>
          <c:dLbls>
            <c:dLbl>
              <c:idx val="0"/>
              <c:numFmt formatCode="0.0%" sourceLinked="0"/>
              <c:spPr/>
              <c:txPr>
                <a:bodyPr/>
                <a:lstStyle/>
                <a:p>
                  <a:pPr>
                    <a:defRPr sz="18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3F3-40DE-BCB5-B676CDCC07DC}"/>
                </c:ext>
              </c:extLst>
            </c:dLbl>
            <c:dLbl>
              <c:idx val="1"/>
              <c:numFmt formatCode="0.0%" sourceLinked="0"/>
              <c:spPr/>
              <c:txPr>
                <a:bodyPr/>
                <a:lstStyle/>
                <a:p>
                  <a:pPr>
                    <a:defRPr sz="18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3F3-40DE-BCB5-B676CDCC07DC}"/>
                </c:ext>
              </c:extLst>
            </c:dLbl>
            <c:numFmt formatCode="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Not spam</c:v>
                </c:pt>
                <c:pt idx="1">
                  <c:v>Spam</c:v>
                </c:pt>
              </c:strCache>
            </c:strRef>
          </c:cat>
          <c:val>
            <c:numRef>
              <c:f>Sheet1!$B$2:$B$3</c:f>
              <c:numCache>
                <c:formatCode>General</c:formatCode>
                <c:ptCount val="2"/>
                <c:pt idx="0">
                  <c:v>2788</c:v>
                </c:pt>
                <c:pt idx="1">
                  <c:v>1813</c:v>
                </c:pt>
              </c:numCache>
            </c:numRef>
          </c:val>
          <c:extLst>
            <c:ext xmlns:c16="http://schemas.microsoft.com/office/drawing/2014/chart" uri="{C3380CC4-5D6E-409C-BE32-E72D297353CC}">
              <c16:uniqueId val="{00000004-B3F3-40DE-BCB5-B676CDCC07D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600">
              <a:solidFill>
                <a:srgbClr val="1B1F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17A398"/>
            </a:solidFill>
            <a:effectLst/>
          </c:spPr>
          <c:invertIfNegative val="0"/>
          <c:dPt>
            <c:idx val="0"/>
            <c:invertIfNegative val="0"/>
            <c:bubble3D val="0"/>
            <c:extLst>
              <c:ext xmlns:c16="http://schemas.microsoft.com/office/drawing/2014/chart" uri="{C3380CC4-5D6E-409C-BE32-E72D297353CC}">
                <c16:uniqueId val="{00000001-B7FF-4260-9A4A-00EAFD4A5153}"/>
              </c:ext>
            </c:extLst>
          </c:dPt>
          <c:dPt>
            <c:idx val="1"/>
            <c:invertIfNegative val="0"/>
            <c:bubble3D val="0"/>
            <c:spPr>
              <a:solidFill>
                <a:srgbClr val="E4572E"/>
              </a:solidFill>
              <a:effectLst/>
            </c:spPr>
            <c:extLst>
              <c:ext xmlns:c16="http://schemas.microsoft.com/office/drawing/2014/chart" uri="{C3380CC4-5D6E-409C-BE32-E72D297353CC}">
                <c16:uniqueId val="{00000003-B7FF-4260-9A4A-00EAFD4A5153}"/>
              </c:ext>
            </c:extLst>
          </c:dPt>
          <c:dPt>
            <c:idx val="2"/>
            <c:invertIfNegative val="0"/>
            <c:bubble3D val="0"/>
            <c:spPr>
              <a:solidFill>
                <a:srgbClr val="8A8FA8"/>
              </a:solidFill>
              <a:effectLst/>
            </c:spPr>
            <c:extLst>
              <c:ext xmlns:c16="http://schemas.microsoft.com/office/drawing/2014/chart" uri="{C3380CC4-5D6E-409C-BE32-E72D297353CC}">
                <c16:uniqueId val="{00000005-B7FF-4260-9A4A-00EAFD4A5153}"/>
              </c:ext>
            </c:extLst>
          </c:dPt>
          <c:dLbls>
            <c:numFmt formatCode="0.0#&quot;%&quot;" sourceLinked="0"/>
            <c:spPr>
              <a:noFill/>
              <a:ln>
                <a:noFill/>
              </a:ln>
              <a:effectLst/>
            </c:spPr>
            <c:txPr>
              <a:bodyPr/>
              <a:lstStyle/>
              <a:p>
                <a:pPr>
                  <a:defRPr sz="2000" b="1" i="0" u="none" strike="noStrike">
                    <a:solidFill>
                      <a:srgbClr val="1B1F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All 57 features</c:v>
                </c:pt>
                <c:pt idx="1">
                  <c:v>Capital letters only</c:v>
                </c:pt>
                <c:pt idx="2">
                  <c:v>Baseline (always “not spam”)</c:v>
                </c:pt>
              </c:strCache>
            </c:strRef>
          </c:cat>
          <c:val>
            <c:numRef>
              <c:f>Sheet1!$B$2:$B$4</c:f>
              <c:numCache>
                <c:formatCode>General</c:formatCode>
                <c:ptCount val="3"/>
                <c:pt idx="0">
                  <c:v>92.78</c:v>
                </c:pt>
                <c:pt idx="1">
                  <c:v>70.87</c:v>
                </c:pt>
                <c:pt idx="2">
                  <c:v>60.6</c:v>
                </c:pt>
              </c:numCache>
            </c:numRef>
          </c:val>
          <c:extLst>
            <c:ext xmlns:c16="http://schemas.microsoft.com/office/drawing/2014/chart" uri="{C3380CC4-5D6E-409C-BE32-E72D297353CC}">
              <c16:uniqueId val="{00000006-B7FF-4260-9A4A-00EAFD4A515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3B"/>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3E5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5B6078"/>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6053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project is about spam email detection. I wanted to find out what a model really needs in order to recognise spam.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is more than annoying. A lot of it is scams and phishing, and filters have to catch it without throwing away real email. My question was simple: what does a model need to recognise spam? The actual words, or is the style enough, like writing in capital letters?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UCI Spambase dataset: 4,601 emails, and 39.4% of them are spam. Here is the baseline: 60.6% of the emails in the dataset are not spam. That means a dummy model that simply guesses 'not spam' every single time already scores 60.6%. That is the bar to beat.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emails had already been converted into 57 numbers each. That conversion is called feature engineering. 48 columns count how often certain words appear, like free, money, and business. 6 columns count characters like an exclamation mark and a dollar sign. And 3 columns measure how much of the email is in capital letters.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 small neural network in ML Console twice, using default settings: one hidden layer of 64 units. I kept the settings identical both times. First, using all 57 features. Second, using only the 3 capital-letter features.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with all 57 features, the model catches spam very well, reaching 92.78%. That is more than 32 points above the baseline. Two: with only the capital-letter features, the accuracy was 70.87%. That is about 10 points above the baseline, so capital letters help a little, but far less than the words and symbols.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screen from ML Console. The top row is model #2, trained on the capital-letter file, and it ended at 70.87%. The bottom row is model #1, trained on all 57 features, and it ended at 92.78%. The settings in the middle were the same for both runs.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capitals do so much worse on their own? Two main reasons. First, style alone lacks context. A legitimate email can have lots of capital letters, like an urgent work project, and spam can be written in lowercase. Without trigger words or symbols, the model lacks critical clues. Second, the capital-letter values are extreme. An average email has about 95 capitals, but some reach over 15,000. Because a neural network relies on multiplying raw numbers, huge unscaled values like that make it harder for the model to train cleanly without preprocessing.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spam detection requires the actual content: the specific words and symbols, which reached 92.78%. Capital letters alone only managed 70.87%, showing that while formatting might hint at spam, it isn't enough on its own to build a reliable filter.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AND ANSWERS
Why did the capital-letter model score so low? Two reasons: formatting doesn't provide enough context without the actual vocabulary, and the numbers are extreme (ranging from under 10 to over 15,000). Small neural networks without normalized data struggle with those massive spikes.
How could you improve the capital-letter model in the future? Feature scaling or applying a logarithm would compress those extreme values into a normal range, making it much easier for the neural network to learn from them.
Why a neural network? It's the model architecture used in ML Console, so keeping the architecture identical allowed a direct, fair comparison between the two feature sets.
Where did you get 60.6%? 60.6% of the emails in the dataset are legitimate, so a model that simply defaults to 'not spam' every single time would score 60.6% automatically.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Text 0"/>
          <p:cNvSpPr txBox="1"/>
          <p:nvPr/>
        </p:nvSpPr>
        <p:spPr>
          <a:xfrm>
            <a:off x="822960" y="1554480"/>
            <a:ext cx="6858000" cy="365760"/>
          </a:xfrm>
          <a:prstGeom prst="rect">
            <a:avLst/>
          </a:prstGeom>
          <a:noFill/>
          <a:ln/>
        </p:spPr>
        <p:txBody>
          <a:bodyPr wrap="square" lIns="0" tIns="0" rIns="0" bIns="0" rtlCol="0" anchor="t"/>
          <a:lstStyle/>
          <a:p>
            <a:r>
              <a:rPr lang="en-US" sz="1600" b="1" kern="0" spc="400" dirty="0">
                <a:solidFill>
                  <a:srgbClr val="7FE0D6"/>
                </a:solidFill>
                <a:latin typeface="Calibri" pitchFamily="34" charset="0"/>
                <a:ea typeface="Calibri" pitchFamily="34" charset="-122"/>
                <a:cs typeface="Calibri" pitchFamily="34" charset="-120"/>
              </a:rPr>
              <a:t>MACHINE LEARNING SIMULATION</a:t>
            </a:r>
            <a:endParaRPr lang="en-US" sz="1600" dirty="0"/>
          </a:p>
        </p:txBody>
      </p:sp>
      <p:sp>
        <p:nvSpPr>
          <p:cNvPr id="3" name="Text 1"/>
          <p:cNvSpPr txBox="1"/>
          <p:nvPr/>
        </p:nvSpPr>
        <p:spPr>
          <a:xfrm>
            <a:off x="822960" y="2103120"/>
            <a:ext cx="6766560" cy="1828800"/>
          </a:xfrm>
          <a:prstGeom prst="rect">
            <a:avLst/>
          </a:prstGeom>
          <a:noFill/>
          <a:ln/>
        </p:spPr>
        <p:txBody>
          <a:bodyPr wrap="square" lIns="0" tIns="0" rIns="0" bIns="0" rtlCol="0" anchor="t"/>
          <a:lstStyle/>
          <a:p>
            <a:r>
              <a:rPr lang="en-US" sz="3200" b="1" dirty="0">
                <a:solidFill>
                  <a:srgbClr val="FFFFFF"/>
                </a:solidFill>
                <a:latin typeface="Cambria" pitchFamily="34" charset="0"/>
                <a:ea typeface="Cambria" pitchFamily="34" charset="-122"/>
                <a:cs typeface="Cambria" pitchFamily="34" charset="-120"/>
              </a:rPr>
              <a:t>Evaluating the Importance of Word Content Versus Capitalization in Spam Email Classification</a:t>
            </a:r>
            <a:endParaRPr lang="en-US" sz="3200" dirty="0"/>
          </a:p>
        </p:txBody>
      </p:sp>
      <p:sp>
        <p:nvSpPr>
          <p:cNvPr id="4" name="Text 2"/>
          <p:cNvSpPr txBox="1"/>
          <p:nvPr/>
        </p:nvSpPr>
        <p:spPr>
          <a:xfrm>
            <a:off x="822960" y="4114800"/>
            <a:ext cx="6766560" cy="548640"/>
          </a:xfrm>
          <a:prstGeom prst="rect">
            <a:avLst/>
          </a:prstGeom>
          <a:noFill/>
          <a:ln/>
        </p:spPr>
        <p:txBody>
          <a:bodyPr wrap="square" lIns="0" tIns="0" rIns="0" bIns="0" rtlCol="0" anchor="t"/>
          <a:lstStyle/>
          <a:p>
            <a:pPr marL="0" indent="0">
              <a:buNone/>
            </a:pPr>
            <a:r>
              <a:rPr lang="en-US" sz="2600" dirty="0">
                <a:solidFill>
                  <a:srgbClr val="C9CCE3"/>
                </a:solidFill>
                <a:latin typeface="Calibri" pitchFamily="34" charset="0"/>
                <a:ea typeface="Calibri" pitchFamily="34" charset="-122"/>
                <a:cs typeface="Calibri" pitchFamily="34" charset="-120"/>
              </a:rPr>
              <a:t>What does a model need to spot spam?</a:t>
            </a:r>
            <a:endParaRPr lang="en-US" sz="2600" dirty="0"/>
          </a:p>
        </p:txBody>
      </p:sp>
      <p:sp>
        <p:nvSpPr>
          <p:cNvPr id="5" name="Text 3"/>
          <p:cNvSpPr txBox="1"/>
          <p:nvPr/>
        </p:nvSpPr>
        <p:spPr>
          <a:xfrm>
            <a:off x="822960" y="5120640"/>
            <a:ext cx="6766560" cy="365760"/>
          </a:xfrm>
          <a:prstGeom prst="rect">
            <a:avLst/>
          </a:prstGeom>
          <a:noFill/>
          <a:ln/>
        </p:spPr>
        <p:txBody>
          <a:bodyPr wrap="square" lIns="0" tIns="0" rIns="0" bIns="0" rtlCol="0" anchor="t"/>
          <a:lstStyle/>
          <a:p>
            <a:r>
              <a:rPr lang="en-US" sz="1600" dirty="0">
                <a:solidFill>
                  <a:srgbClr val="9EA3C7"/>
                </a:solidFill>
                <a:latin typeface="Calibri" pitchFamily="34" charset="0"/>
                <a:ea typeface="Calibri" pitchFamily="34" charset="-122"/>
                <a:cs typeface="Calibri" pitchFamily="34" charset="-120"/>
              </a:rPr>
              <a:t>Dataset: UCI </a:t>
            </a:r>
            <a:r>
              <a:rPr lang="en-US" sz="1600" dirty="0" err="1">
                <a:solidFill>
                  <a:srgbClr val="9EA3C7"/>
                </a:solidFill>
                <a:latin typeface="Calibri" pitchFamily="34" charset="0"/>
                <a:ea typeface="Calibri" pitchFamily="34" charset="-122"/>
                <a:cs typeface="Calibri" pitchFamily="34" charset="-120"/>
              </a:rPr>
              <a:t>Spambase</a:t>
            </a:r>
            <a:r>
              <a:rPr lang="en-US" sz="1600" dirty="0">
                <a:solidFill>
                  <a:srgbClr val="9EA3C7"/>
                </a:solidFill>
                <a:latin typeface="Calibri" pitchFamily="34" charset="0"/>
                <a:ea typeface="Calibri" pitchFamily="34" charset="-122"/>
                <a:cs typeface="Calibri" pitchFamily="34" charset="-120"/>
              </a:rPr>
              <a:t>   |   Tool: ML Console</a:t>
            </a:r>
          </a:p>
          <a:p>
            <a:endParaRPr lang="en-US" sz="1600" dirty="0">
              <a:solidFill>
                <a:srgbClr val="9EA3C7"/>
              </a:solidFill>
              <a:latin typeface="Calibri" pitchFamily="34" charset="0"/>
              <a:ea typeface="Calibri" pitchFamily="34" charset="-122"/>
              <a:cs typeface="Calibri" pitchFamily="34" charset="-120"/>
            </a:endParaRPr>
          </a:p>
          <a:p>
            <a:r>
              <a:rPr lang="en-US" sz="1600" dirty="0">
                <a:solidFill>
                  <a:srgbClr val="9EA3C7"/>
                </a:solidFill>
                <a:latin typeface="Calibri" pitchFamily="34" charset="0"/>
                <a:ea typeface="Calibri" pitchFamily="34" charset="-122"/>
                <a:cs typeface="Calibri" pitchFamily="34" charset="-120"/>
              </a:rPr>
              <a:t>Beltran, Jon Emanuel V.</a:t>
            </a:r>
          </a:p>
          <a:p>
            <a:r>
              <a:rPr lang="en-US" sz="1600" dirty="0">
                <a:solidFill>
                  <a:srgbClr val="9EA3C7"/>
                </a:solidFill>
                <a:latin typeface="Calibri" pitchFamily="34" charset="0"/>
                <a:ea typeface="Calibri" pitchFamily="34" charset="-122"/>
                <a:cs typeface="Calibri" pitchFamily="34" charset="-120"/>
              </a:rPr>
              <a:t>COM241ML</a:t>
            </a:r>
            <a:endParaRPr lang="en-US" sz="1600" dirty="0"/>
          </a:p>
        </p:txBody>
      </p:sp>
      <p:sp>
        <p:nvSpPr>
          <p:cNvPr id="6" name="Shape 4"/>
          <p:cNvSpPr/>
          <p:nvPr/>
        </p:nvSpPr>
        <p:spPr>
          <a:xfrm>
            <a:off x="7955280" y="1463040"/>
            <a:ext cx="3474720" cy="3474720"/>
          </a:xfrm>
          <a:prstGeom prst="ellipse">
            <a:avLst/>
          </a:prstGeom>
          <a:solidFill>
            <a:srgbClr val="E4572E"/>
          </a:solidFill>
          <a:ln w="6350">
            <a:solidFill>
              <a:srgbClr val="E4572E"/>
            </a:solidFill>
            <a:prstDash val="solid"/>
          </a:ln>
        </p:spPr>
        <p:txBody>
          <a:bodyPr/>
          <a:lstStyle/>
          <a:p>
            <a:endParaRPr lang="en-PH"/>
          </a:p>
        </p:txBody>
      </p:sp>
      <p:pic>
        <p:nvPicPr>
          <p:cNvPr id="7" name="Image 0" descr="preencoded.png"/>
          <p:cNvPicPr>
            <a:picLocks noChangeAspect="1"/>
          </p:cNvPicPr>
          <p:nvPr/>
        </p:nvPicPr>
        <p:blipFill>
          <a:blip r:embed="rId3"/>
          <a:stretch>
            <a:fillRect/>
          </a:stretch>
        </p:blipFill>
        <p:spPr>
          <a:xfrm>
            <a:off x="9006840" y="2514600"/>
            <a:ext cx="1371600" cy="1371600"/>
          </a:xfrm>
          <a:prstGeom prst="rect">
            <a:avLst/>
          </a:prstGeom>
        </p:spPr>
      </p:pic>
      <p:sp>
        <p:nvSpPr>
          <p:cNvPr id="8" name="Shape 5"/>
          <p:cNvSpPr/>
          <p:nvPr/>
        </p:nvSpPr>
        <p:spPr>
          <a:xfrm>
            <a:off x="10332720" y="4023360"/>
            <a:ext cx="1463040" cy="1463040"/>
          </a:xfrm>
          <a:prstGeom prst="ellipse">
            <a:avLst/>
          </a:prstGeom>
          <a:solidFill>
            <a:srgbClr val="FFFFFF"/>
          </a:solidFill>
          <a:ln w="38100">
            <a:solidFill>
              <a:srgbClr val="1B1F3B"/>
            </a:solidFill>
            <a:prstDash val="solid"/>
          </a:ln>
        </p:spPr>
        <p:txBody>
          <a:bodyPr/>
          <a:lstStyle/>
          <a:p>
            <a:endParaRPr lang="en-PH"/>
          </a:p>
        </p:txBody>
      </p:sp>
      <p:pic>
        <p:nvPicPr>
          <p:cNvPr id="9" name="Image 1" descr="preencoded.png"/>
          <p:cNvPicPr>
            <a:picLocks noChangeAspect="1"/>
          </p:cNvPicPr>
          <p:nvPr/>
        </p:nvPicPr>
        <p:blipFill>
          <a:blip r:embed="rId4"/>
          <a:stretch>
            <a:fillRect/>
          </a:stretch>
        </p:blipFill>
        <p:spPr>
          <a:xfrm>
            <a:off x="10652760" y="434340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The Problem</a:t>
            </a:r>
            <a:endParaRPr lang="en-US" sz="3600" dirty="0"/>
          </a:p>
        </p:txBody>
      </p:sp>
      <p:sp>
        <p:nvSpPr>
          <p:cNvPr id="3" name="Text 1"/>
          <p:cNvSpPr txBox="1"/>
          <p:nvPr/>
        </p:nvSpPr>
        <p:spPr>
          <a:xfrm>
            <a:off x="640080" y="1600200"/>
            <a:ext cx="5212080" cy="548640"/>
          </a:xfrm>
          <a:prstGeom prst="rect">
            <a:avLst/>
          </a:prstGeom>
          <a:noFill/>
          <a:ln/>
        </p:spPr>
        <p:txBody>
          <a:bodyPr wrap="square" lIns="0" tIns="0" rIns="0" bIns="0" rtlCol="0" anchor="t"/>
          <a:lstStyle/>
          <a:p>
            <a:pPr marL="0" indent="0">
              <a:buNone/>
            </a:pPr>
            <a:r>
              <a:rPr lang="en-US" sz="2600" b="1" dirty="0">
                <a:solidFill>
                  <a:srgbClr val="1B1F3B"/>
                </a:solidFill>
                <a:latin typeface="Calibri" pitchFamily="34" charset="0"/>
                <a:ea typeface="Calibri" pitchFamily="34" charset="-122"/>
                <a:cs typeface="Calibri" pitchFamily="34" charset="-120"/>
              </a:rPr>
              <a:t>Spam is more than annoying.</a:t>
            </a:r>
            <a:endParaRPr lang="en-US" sz="2600" dirty="0"/>
          </a:p>
        </p:txBody>
      </p:sp>
      <p:sp>
        <p:nvSpPr>
          <p:cNvPr id="4" name="Text 2"/>
          <p:cNvSpPr txBox="1"/>
          <p:nvPr/>
        </p:nvSpPr>
        <p:spPr>
          <a:xfrm>
            <a:off x="640080" y="2194560"/>
            <a:ext cx="5212080" cy="457200"/>
          </a:xfrm>
          <a:prstGeom prst="rect">
            <a:avLst/>
          </a:prstGeom>
          <a:noFill/>
          <a:ln/>
        </p:spPr>
        <p:txBody>
          <a:bodyPr wrap="square" lIns="0" tIns="0" rIns="0" bIns="0" rtlCol="0" anchor="t"/>
          <a:lstStyle/>
          <a:p>
            <a:pPr marL="0" indent="0">
              <a:buNone/>
            </a:pPr>
            <a:r>
              <a:rPr lang="en-US" sz="2000" dirty="0">
                <a:solidFill>
                  <a:srgbClr val="5B6078"/>
                </a:solidFill>
                <a:latin typeface="Calibri" pitchFamily="34" charset="0"/>
                <a:ea typeface="Calibri" pitchFamily="34" charset="-122"/>
                <a:cs typeface="Calibri" pitchFamily="34" charset="-120"/>
              </a:rPr>
              <a:t>A lot of it is scams and phishing.</a:t>
            </a:r>
            <a:endParaRPr lang="en-US" sz="2000" dirty="0"/>
          </a:p>
        </p:txBody>
      </p:sp>
      <p:sp>
        <p:nvSpPr>
          <p:cNvPr id="5" name="Shape 3"/>
          <p:cNvSpPr/>
          <p:nvPr/>
        </p:nvSpPr>
        <p:spPr>
          <a:xfrm>
            <a:off x="640080" y="3108960"/>
            <a:ext cx="822960" cy="822960"/>
          </a:xfrm>
          <a:prstGeom prst="ellipse">
            <a:avLst/>
          </a:prstGeom>
          <a:solidFill>
            <a:srgbClr val="E4572E"/>
          </a:solidFill>
          <a:ln w="6350">
            <a:solidFill>
              <a:srgbClr val="E4572E"/>
            </a:solidFill>
            <a:prstDash val="solid"/>
          </a:ln>
        </p:spPr>
        <p:txBody>
          <a:bodyPr/>
          <a:lstStyle/>
          <a:p>
            <a:endParaRPr lang="en-PH"/>
          </a:p>
        </p:txBody>
      </p:sp>
      <p:pic>
        <p:nvPicPr>
          <p:cNvPr id="6" name="Image 0" descr="preencoded.png"/>
          <p:cNvPicPr>
            <a:picLocks noChangeAspect="1"/>
          </p:cNvPicPr>
          <p:nvPr/>
        </p:nvPicPr>
        <p:blipFill>
          <a:blip r:embed="rId3"/>
          <a:stretch>
            <a:fillRect/>
          </a:stretch>
        </p:blipFill>
        <p:spPr>
          <a:xfrm>
            <a:off x="845820" y="3314700"/>
            <a:ext cx="411480" cy="411480"/>
          </a:xfrm>
          <a:prstGeom prst="rect">
            <a:avLst/>
          </a:prstGeom>
        </p:spPr>
      </p:pic>
      <p:sp>
        <p:nvSpPr>
          <p:cNvPr id="7" name="Text 4"/>
          <p:cNvSpPr txBox="1"/>
          <p:nvPr/>
        </p:nvSpPr>
        <p:spPr>
          <a:xfrm>
            <a:off x="1691640" y="3108960"/>
            <a:ext cx="4114800" cy="822960"/>
          </a:xfrm>
          <a:prstGeom prst="rect">
            <a:avLst/>
          </a:prstGeom>
          <a:noFill/>
          <a:ln/>
        </p:spPr>
        <p:txBody>
          <a:bodyPr wrap="square" lIns="0" tIns="0" rIns="0" bIns="0" rtlCol="0" anchor="ctr"/>
          <a:lstStyle/>
          <a:p>
            <a:pPr marL="0" indent="0">
              <a:buNone/>
            </a:pPr>
            <a:r>
              <a:rPr lang="en-US" sz="2000" b="1" dirty="0">
                <a:solidFill>
                  <a:srgbClr val="1B1F3B"/>
                </a:solidFill>
                <a:latin typeface="Calibri" pitchFamily="34" charset="0"/>
                <a:ea typeface="Calibri" pitchFamily="34" charset="-122"/>
                <a:cs typeface="Calibri" pitchFamily="34" charset="-120"/>
              </a:rPr>
              <a:t>Scams and phishing</a:t>
            </a:r>
            <a:endParaRPr lang="en-US" sz="2000" dirty="0"/>
          </a:p>
        </p:txBody>
      </p:sp>
      <p:sp>
        <p:nvSpPr>
          <p:cNvPr id="8" name="Shape 5"/>
          <p:cNvSpPr/>
          <p:nvPr/>
        </p:nvSpPr>
        <p:spPr>
          <a:xfrm>
            <a:off x="640080" y="4297680"/>
            <a:ext cx="822960" cy="822960"/>
          </a:xfrm>
          <a:prstGeom prst="ellipse">
            <a:avLst/>
          </a:prstGeom>
          <a:solidFill>
            <a:srgbClr val="17A398"/>
          </a:solidFill>
          <a:ln w="6350">
            <a:solidFill>
              <a:srgbClr val="17A398"/>
            </a:solidFill>
            <a:prstDash val="solid"/>
          </a:ln>
        </p:spPr>
        <p:txBody>
          <a:bodyPr/>
          <a:lstStyle/>
          <a:p>
            <a:endParaRPr lang="en-PH"/>
          </a:p>
        </p:txBody>
      </p:sp>
      <p:pic>
        <p:nvPicPr>
          <p:cNvPr id="9" name="Image 1" descr="preencoded.png"/>
          <p:cNvPicPr>
            <a:picLocks noChangeAspect="1"/>
          </p:cNvPicPr>
          <p:nvPr/>
        </p:nvPicPr>
        <p:blipFill>
          <a:blip r:embed="rId4"/>
          <a:stretch>
            <a:fillRect/>
          </a:stretch>
        </p:blipFill>
        <p:spPr>
          <a:xfrm>
            <a:off x="845820" y="4503420"/>
            <a:ext cx="411480" cy="411480"/>
          </a:xfrm>
          <a:prstGeom prst="rect">
            <a:avLst/>
          </a:prstGeom>
        </p:spPr>
      </p:pic>
      <p:sp>
        <p:nvSpPr>
          <p:cNvPr id="10" name="Text 6"/>
          <p:cNvSpPr txBox="1"/>
          <p:nvPr/>
        </p:nvSpPr>
        <p:spPr>
          <a:xfrm>
            <a:off x="1691640" y="4297680"/>
            <a:ext cx="4114800" cy="822960"/>
          </a:xfrm>
          <a:prstGeom prst="rect">
            <a:avLst/>
          </a:prstGeom>
          <a:noFill/>
          <a:ln/>
        </p:spPr>
        <p:txBody>
          <a:bodyPr wrap="square" lIns="0" tIns="0" rIns="0" bIns="0" rtlCol="0" anchor="ctr"/>
          <a:lstStyle/>
          <a:p>
            <a:pPr marL="0" indent="0">
              <a:buNone/>
            </a:pPr>
            <a:r>
              <a:rPr lang="en-US" sz="2000" b="1" dirty="0">
                <a:solidFill>
                  <a:srgbClr val="1B1F3B"/>
                </a:solidFill>
                <a:latin typeface="Calibri" pitchFamily="34" charset="0"/>
                <a:ea typeface="Calibri" pitchFamily="34" charset="-122"/>
                <a:cs typeface="Calibri" pitchFamily="34" charset="-120"/>
              </a:rPr>
              <a:t>Filters must catch spam without throwing away real email</a:t>
            </a:r>
            <a:endParaRPr lang="en-US" sz="2000" dirty="0"/>
          </a:p>
        </p:txBody>
      </p:sp>
      <p:sp>
        <p:nvSpPr>
          <p:cNvPr id="11" name="Shape 7"/>
          <p:cNvSpPr/>
          <p:nvPr/>
        </p:nvSpPr>
        <p:spPr>
          <a:xfrm>
            <a:off x="6309360" y="1554480"/>
            <a:ext cx="5239512" cy="4480560"/>
          </a:xfrm>
          <a:prstGeom prst="roundRect">
            <a:avLst>
              <a:gd name="adj" fmla="val 2857"/>
            </a:avLst>
          </a:prstGeom>
          <a:solidFill>
            <a:srgbClr val="1B1F3B"/>
          </a:solidFill>
          <a:ln w="6350">
            <a:solidFill>
              <a:srgbClr val="1B1F3B"/>
            </a:solidFill>
            <a:prstDash val="solid"/>
          </a:ln>
        </p:spPr>
        <p:txBody>
          <a:bodyPr/>
          <a:lstStyle/>
          <a:p>
            <a:endParaRPr lang="en-PH"/>
          </a:p>
        </p:txBody>
      </p:sp>
      <p:sp>
        <p:nvSpPr>
          <p:cNvPr id="12" name="Text 8"/>
          <p:cNvSpPr txBox="1"/>
          <p:nvPr/>
        </p:nvSpPr>
        <p:spPr>
          <a:xfrm>
            <a:off x="6675120" y="1828800"/>
            <a:ext cx="4572000" cy="274320"/>
          </a:xfrm>
          <a:prstGeom prst="rect">
            <a:avLst/>
          </a:prstGeom>
          <a:noFill/>
          <a:ln/>
        </p:spPr>
        <p:txBody>
          <a:bodyPr wrap="square" lIns="0" tIns="0" rIns="0" bIns="0" rtlCol="0" anchor="t"/>
          <a:lstStyle/>
          <a:p>
            <a:pPr marL="0" indent="0">
              <a:buNone/>
            </a:pPr>
            <a:endParaRPr lang="en-US" sz="1300" dirty="0"/>
          </a:p>
        </p:txBody>
      </p:sp>
      <p:sp>
        <p:nvSpPr>
          <p:cNvPr id="13" name="Text 9"/>
          <p:cNvSpPr txBox="1"/>
          <p:nvPr/>
        </p:nvSpPr>
        <p:spPr>
          <a:xfrm>
            <a:off x="6675120" y="2194560"/>
            <a:ext cx="4572000" cy="128016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What does a model need to recognise spam?</a:t>
            </a:r>
            <a:endParaRPr lang="en-US" sz="2800" dirty="0"/>
          </a:p>
        </p:txBody>
      </p:sp>
      <p:sp>
        <p:nvSpPr>
          <p:cNvPr id="14" name="Shape 10"/>
          <p:cNvSpPr/>
          <p:nvPr/>
        </p:nvSpPr>
        <p:spPr>
          <a:xfrm>
            <a:off x="6675120" y="3657600"/>
            <a:ext cx="731520" cy="731520"/>
          </a:xfrm>
          <a:prstGeom prst="ellipse">
            <a:avLst/>
          </a:prstGeom>
          <a:solidFill>
            <a:srgbClr val="17A398"/>
          </a:solidFill>
          <a:ln w="6350">
            <a:solidFill>
              <a:srgbClr val="17A398"/>
            </a:solidFill>
            <a:prstDash val="solid"/>
          </a:ln>
        </p:spPr>
        <p:txBody>
          <a:bodyPr/>
          <a:lstStyle/>
          <a:p>
            <a:endParaRPr lang="en-PH"/>
          </a:p>
        </p:txBody>
      </p:sp>
      <p:pic>
        <p:nvPicPr>
          <p:cNvPr id="15" name="Image 2" descr="preencoded.png"/>
          <p:cNvPicPr>
            <a:picLocks noChangeAspect="1"/>
          </p:cNvPicPr>
          <p:nvPr/>
        </p:nvPicPr>
        <p:blipFill>
          <a:blip r:embed="rId5"/>
          <a:stretch>
            <a:fillRect/>
          </a:stretch>
        </p:blipFill>
        <p:spPr>
          <a:xfrm>
            <a:off x="6858000" y="3840480"/>
            <a:ext cx="365760" cy="365760"/>
          </a:xfrm>
          <a:prstGeom prst="rect">
            <a:avLst/>
          </a:prstGeom>
        </p:spPr>
      </p:pic>
      <p:sp>
        <p:nvSpPr>
          <p:cNvPr id="16" name="Text 11"/>
          <p:cNvSpPr txBox="1"/>
          <p:nvPr/>
        </p:nvSpPr>
        <p:spPr>
          <a:xfrm>
            <a:off x="7635240" y="3657600"/>
            <a:ext cx="3657600" cy="7315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The actual words and symbols?</a:t>
            </a:r>
            <a:endParaRPr lang="en-US" sz="2000" dirty="0"/>
          </a:p>
        </p:txBody>
      </p:sp>
      <p:sp>
        <p:nvSpPr>
          <p:cNvPr id="17" name="Shape 12"/>
          <p:cNvSpPr/>
          <p:nvPr/>
        </p:nvSpPr>
        <p:spPr>
          <a:xfrm>
            <a:off x="6675120" y="4709160"/>
            <a:ext cx="731520" cy="731520"/>
          </a:xfrm>
          <a:prstGeom prst="ellipse">
            <a:avLst/>
          </a:prstGeom>
          <a:solidFill>
            <a:srgbClr val="E4572E"/>
          </a:solidFill>
          <a:ln w="6350">
            <a:solidFill>
              <a:srgbClr val="E4572E"/>
            </a:solidFill>
            <a:prstDash val="solid"/>
          </a:ln>
        </p:spPr>
        <p:txBody>
          <a:bodyPr/>
          <a:lstStyle/>
          <a:p>
            <a:endParaRPr lang="en-PH"/>
          </a:p>
        </p:txBody>
      </p:sp>
      <p:pic>
        <p:nvPicPr>
          <p:cNvPr id="18" name="Image 3" descr="preencoded.png"/>
          <p:cNvPicPr>
            <a:picLocks noChangeAspect="1"/>
          </p:cNvPicPr>
          <p:nvPr/>
        </p:nvPicPr>
        <p:blipFill>
          <a:blip r:embed="rId6"/>
          <a:stretch>
            <a:fillRect/>
          </a:stretch>
        </p:blipFill>
        <p:spPr>
          <a:xfrm>
            <a:off x="6858000" y="4892040"/>
            <a:ext cx="365760" cy="365760"/>
          </a:xfrm>
          <a:prstGeom prst="rect">
            <a:avLst/>
          </a:prstGeom>
        </p:spPr>
      </p:pic>
      <p:sp>
        <p:nvSpPr>
          <p:cNvPr id="19" name="Text 13"/>
          <p:cNvSpPr txBox="1"/>
          <p:nvPr/>
        </p:nvSpPr>
        <p:spPr>
          <a:xfrm>
            <a:off x="7635240" y="4709160"/>
            <a:ext cx="3657600" cy="731520"/>
          </a:xfrm>
          <a:prstGeom prst="rect">
            <a:avLst/>
          </a:prstGeom>
          <a:noFill/>
          <a:ln/>
        </p:spPr>
        <p:txBody>
          <a:bodyPr wrap="square" lIns="0" tIns="0" rIns="0" bIns="0" rtlCol="0" anchor="ctr"/>
          <a:lstStyle/>
          <a:p>
            <a:r>
              <a:rPr lang="en-US" sz="2000" dirty="0">
                <a:solidFill>
                  <a:srgbClr val="FFFFFF"/>
                </a:solidFill>
                <a:latin typeface="Calibri" pitchFamily="34" charset="0"/>
                <a:ea typeface="Calibri" pitchFamily="34" charset="-122"/>
                <a:cs typeface="Calibri" pitchFamily="34" charset="-120"/>
              </a:rPr>
              <a:t>Or is it the style, like CAPITAL LETTERS?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The Data: UCI Spambase</a:t>
            </a:r>
            <a:endParaRPr lang="en-US" sz="3600" dirty="0"/>
          </a:p>
        </p:txBody>
      </p:sp>
      <p:graphicFrame>
        <p:nvGraphicFramePr>
          <p:cNvPr id="3" name="Chart 0"/>
          <p:cNvGraphicFramePr/>
          <p:nvPr>
            <p:extLst>
              <p:ext uri="{D42A27DB-BD31-4B8C-83A1-F6EECF244321}">
                <p14:modId xmlns:p14="http://schemas.microsoft.com/office/powerpoint/2010/main" val="4041771231"/>
              </p:ext>
            </p:extLst>
          </p:nvPr>
        </p:nvGraphicFramePr>
        <p:xfrm>
          <a:off x="640080" y="1463040"/>
          <a:ext cx="5486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898908" y="2148840"/>
            <a:ext cx="4754880" cy="868680"/>
          </a:xfrm>
          <a:prstGeom prst="rect">
            <a:avLst/>
          </a:prstGeom>
          <a:noFill/>
          <a:ln/>
        </p:spPr>
        <p:txBody>
          <a:bodyPr wrap="square" lIns="0" tIns="0" rIns="0" bIns="0" rtlCol="0" anchor="t"/>
          <a:lstStyle/>
          <a:p>
            <a:pPr marL="0" indent="0">
              <a:buNone/>
            </a:pPr>
            <a:r>
              <a:rPr lang="en-US" sz="5400" b="1" dirty="0">
                <a:solidFill>
                  <a:srgbClr val="1B1F3B"/>
                </a:solidFill>
                <a:latin typeface="Cambria" pitchFamily="34" charset="0"/>
                <a:ea typeface="Cambria" pitchFamily="34" charset="-122"/>
                <a:cs typeface="Cambria" pitchFamily="34" charset="-120"/>
              </a:rPr>
              <a:t>4,601</a:t>
            </a:r>
            <a:endParaRPr lang="en-US" sz="5400" dirty="0"/>
          </a:p>
        </p:txBody>
      </p:sp>
      <p:sp>
        <p:nvSpPr>
          <p:cNvPr id="5" name="Text 2"/>
          <p:cNvSpPr txBox="1"/>
          <p:nvPr/>
        </p:nvSpPr>
        <p:spPr>
          <a:xfrm>
            <a:off x="6898908" y="3017520"/>
            <a:ext cx="4754880" cy="411480"/>
          </a:xfrm>
          <a:prstGeom prst="rect">
            <a:avLst/>
          </a:prstGeom>
          <a:noFill/>
          <a:ln/>
        </p:spPr>
        <p:txBody>
          <a:bodyPr wrap="square" lIns="0" tIns="0" rIns="0" bIns="0" rtlCol="0" anchor="t"/>
          <a:lstStyle/>
          <a:p>
            <a:pPr marL="0" indent="0">
              <a:buNone/>
            </a:pPr>
            <a:r>
              <a:rPr lang="en-US" sz="1800" dirty="0">
                <a:solidFill>
                  <a:srgbClr val="5B6078"/>
                </a:solidFill>
                <a:latin typeface="Calibri" pitchFamily="34" charset="0"/>
                <a:ea typeface="Calibri" pitchFamily="34" charset="-122"/>
                <a:cs typeface="Calibri" pitchFamily="34" charset="-120"/>
              </a:rPr>
              <a:t>emails, labeled spam or not spam</a:t>
            </a:r>
            <a:endParaRPr lang="en-US" sz="1800" dirty="0"/>
          </a:p>
        </p:txBody>
      </p:sp>
      <p:sp>
        <p:nvSpPr>
          <p:cNvPr id="6" name="Text 3"/>
          <p:cNvSpPr txBox="1"/>
          <p:nvPr/>
        </p:nvSpPr>
        <p:spPr>
          <a:xfrm>
            <a:off x="6898908" y="3657600"/>
            <a:ext cx="4754880" cy="868680"/>
          </a:xfrm>
          <a:prstGeom prst="rect">
            <a:avLst/>
          </a:prstGeom>
          <a:noFill/>
          <a:ln/>
        </p:spPr>
        <p:txBody>
          <a:bodyPr wrap="square" lIns="0" tIns="0" rIns="0" bIns="0" rtlCol="0" anchor="t"/>
          <a:lstStyle/>
          <a:p>
            <a:pPr marL="0" indent="0">
              <a:buNone/>
            </a:pPr>
            <a:r>
              <a:rPr lang="en-US" sz="5400" b="1" dirty="0">
                <a:solidFill>
                  <a:srgbClr val="E4572E"/>
                </a:solidFill>
                <a:latin typeface="Cambria" pitchFamily="34" charset="0"/>
                <a:ea typeface="Cambria" pitchFamily="34" charset="-122"/>
                <a:cs typeface="Cambria" pitchFamily="34" charset="-120"/>
              </a:rPr>
              <a:t>39.4%</a:t>
            </a:r>
            <a:endParaRPr lang="en-US" sz="5400" dirty="0"/>
          </a:p>
        </p:txBody>
      </p:sp>
      <p:sp>
        <p:nvSpPr>
          <p:cNvPr id="7" name="Text 4"/>
          <p:cNvSpPr txBox="1"/>
          <p:nvPr/>
        </p:nvSpPr>
        <p:spPr>
          <a:xfrm>
            <a:off x="6898908" y="4526280"/>
            <a:ext cx="4754880" cy="411480"/>
          </a:xfrm>
          <a:prstGeom prst="rect">
            <a:avLst/>
          </a:prstGeom>
          <a:noFill/>
          <a:ln/>
        </p:spPr>
        <p:txBody>
          <a:bodyPr wrap="square" lIns="0" tIns="0" rIns="0" bIns="0" rtlCol="0" anchor="t"/>
          <a:lstStyle/>
          <a:p>
            <a:pPr marL="0" indent="0">
              <a:buNone/>
            </a:pPr>
            <a:r>
              <a:rPr lang="en-US" sz="1800" dirty="0">
                <a:solidFill>
                  <a:srgbClr val="5B6078"/>
                </a:solidFill>
                <a:latin typeface="Calibri" pitchFamily="34" charset="0"/>
                <a:ea typeface="Calibri" pitchFamily="34" charset="-122"/>
                <a:cs typeface="Calibri" pitchFamily="34" charset="-120"/>
              </a:rPr>
              <a:t>of them are spam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Each Email Became 57 Numbers</a:t>
            </a:r>
            <a:endParaRPr lang="en-US" sz="3600" dirty="0"/>
          </a:p>
        </p:txBody>
      </p:sp>
      <p:sp>
        <p:nvSpPr>
          <p:cNvPr id="3" name="Shape 1"/>
          <p:cNvSpPr/>
          <p:nvPr/>
        </p:nvSpPr>
        <p:spPr>
          <a:xfrm>
            <a:off x="640080" y="1554480"/>
            <a:ext cx="3520440" cy="3200400"/>
          </a:xfrm>
          <a:prstGeom prst="roundRect">
            <a:avLst>
              <a:gd name="adj" fmla="val 4000"/>
            </a:avLst>
          </a:prstGeom>
          <a:solidFill>
            <a:srgbClr val="F1F2F8"/>
          </a:solidFill>
          <a:ln w="6350">
            <a:solidFill>
              <a:srgbClr val="F1F2F8"/>
            </a:solidFill>
            <a:prstDash val="solid"/>
          </a:ln>
        </p:spPr>
        <p:txBody>
          <a:bodyPr/>
          <a:lstStyle/>
          <a:p>
            <a:endParaRPr lang="en-PH"/>
          </a:p>
        </p:txBody>
      </p:sp>
      <p:sp>
        <p:nvSpPr>
          <p:cNvPr id="4" name="Text 2"/>
          <p:cNvSpPr txBox="1"/>
          <p:nvPr/>
        </p:nvSpPr>
        <p:spPr>
          <a:xfrm>
            <a:off x="960120" y="1691640"/>
            <a:ext cx="2926080" cy="1097280"/>
          </a:xfrm>
          <a:prstGeom prst="rect">
            <a:avLst/>
          </a:prstGeom>
          <a:noFill/>
          <a:ln/>
        </p:spPr>
        <p:txBody>
          <a:bodyPr wrap="square" lIns="0" tIns="0" rIns="0" bIns="0" rtlCol="0" anchor="t"/>
          <a:lstStyle/>
          <a:p>
            <a:pPr marL="0" indent="0">
              <a:buNone/>
            </a:pPr>
            <a:r>
              <a:rPr lang="en-US" sz="7200" b="1" dirty="0">
                <a:solidFill>
                  <a:srgbClr val="17A398"/>
                </a:solidFill>
                <a:latin typeface="Cambria" pitchFamily="34" charset="0"/>
                <a:ea typeface="Cambria" pitchFamily="34" charset="-122"/>
                <a:cs typeface="Cambria" pitchFamily="34" charset="-120"/>
              </a:rPr>
              <a:t>48</a:t>
            </a:r>
            <a:endParaRPr lang="en-US" sz="7200" dirty="0"/>
          </a:p>
        </p:txBody>
      </p:sp>
      <p:sp>
        <p:nvSpPr>
          <p:cNvPr id="5" name="Text 3"/>
          <p:cNvSpPr txBox="1"/>
          <p:nvPr/>
        </p:nvSpPr>
        <p:spPr>
          <a:xfrm>
            <a:off x="960120" y="2880360"/>
            <a:ext cx="2926080" cy="457200"/>
          </a:xfrm>
          <a:prstGeom prst="rect">
            <a:avLst/>
          </a:prstGeom>
          <a:noFill/>
          <a:ln/>
        </p:spPr>
        <p:txBody>
          <a:bodyPr wrap="square" lIns="0" tIns="0" rIns="0" bIns="0" rtlCol="0" anchor="t"/>
          <a:lstStyle/>
          <a:p>
            <a:pPr marL="0" indent="0">
              <a:buNone/>
            </a:pPr>
            <a:r>
              <a:rPr lang="en-US" sz="2200" b="1" dirty="0">
                <a:solidFill>
                  <a:srgbClr val="1B1F3B"/>
                </a:solidFill>
                <a:latin typeface="Calibri" pitchFamily="34" charset="0"/>
                <a:ea typeface="Calibri" pitchFamily="34" charset="-122"/>
                <a:cs typeface="Calibri" pitchFamily="34" charset="-120"/>
              </a:rPr>
              <a:t>word counts</a:t>
            </a:r>
            <a:endParaRPr lang="en-US" sz="2200" dirty="0"/>
          </a:p>
        </p:txBody>
      </p:sp>
      <p:sp>
        <p:nvSpPr>
          <p:cNvPr id="6" name="Text 4"/>
          <p:cNvSpPr txBox="1"/>
          <p:nvPr/>
        </p:nvSpPr>
        <p:spPr>
          <a:xfrm>
            <a:off x="960120" y="3429000"/>
            <a:ext cx="2926080" cy="118872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How often certain words appear, like free, money, and business.</a:t>
            </a:r>
            <a:endParaRPr lang="en-US" sz="1600" dirty="0"/>
          </a:p>
        </p:txBody>
      </p:sp>
      <p:sp>
        <p:nvSpPr>
          <p:cNvPr id="7" name="Shape 5"/>
          <p:cNvSpPr/>
          <p:nvPr/>
        </p:nvSpPr>
        <p:spPr>
          <a:xfrm>
            <a:off x="4343400" y="1554480"/>
            <a:ext cx="3520440" cy="3200400"/>
          </a:xfrm>
          <a:prstGeom prst="roundRect">
            <a:avLst>
              <a:gd name="adj" fmla="val 4000"/>
            </a:avLst>
          </a:prstGeom>
          <a:solidFill>
            <a:srgbClr val="F1F2F8"/>
          </a:solidFill>
          <a:ln w="6350">
            <a:solidFill>
              <a:srgbClr val="F1F2F8"/>
            </a:solidFill>
            <a:prstDash val="solid"/>
          </a:ln>
        </p:spPr>
        <p:txBody>
          <a:bodyPr/>
          <a:lstStyle/>
          <a:p>
            <a:endParaRPr lang="en-PH"/>
          </a:p>
        </p:txBody>
      </p:sp>
      <p:sp>
        <p:nvSpPr>
          <p:cNvPr id="8" name="Text 6"/>
          <p:cNvSpPr txBox="1"/>
          <p:nvPr/>
        </p:nvSpPr>
        <p:spPr>
          <a:xfrm>
            <a:off x="4663440" y="1691640"/>
            <a:ext cx="2926080" cy="1097280"/>
          </a:xfrm>
          <a:prstGeom prst="rect">
            <a:avLst/>
          </a:prstGeom>
          <a:noFill/>
          <a:ln/>
        </p:spPr>
        <p:txBody>
          <a:bodyPr wrap="square" lIns="0" tIns="0" rIns="0" bIns="0" rtlCol="0" anchor="t"/>
          <a:lstStyle/>
          <a:p>
            <a:pPr marL="0" indent="0">
              <a:buNone/>
            </a:pPr>
            <a:r>
              <a:rPr lang="en-US" sz="7200" b="1" dirty="0">
                <a:solidFill>
                  <a:srgbClr val="1B1F3B"/>
                </a:solidFill>
                <a:latin typeface="Cambria" pitchFamily="34" charset="0"/>
                <a:ea typeface="Cambria" pitchFamily="34" charset="-122"/>
                <a:cs typeface="Cambria" pitchFamily="34" charset="-120"/>
              </a:rPr>
              <a:t>6</a:t>
            </a:r>
            <a:endParaRPr lang="en-US" sz="7200" dirty="0"/>
          </a:p>
        </p:txBody>
      </p:sp>
      <p:sp>
        <p:nvSpPr>
          <p:cNvPr id="9" name="Text 7"/>
          <p:cNvSpPr txBox="1"/>
          <p:nvPr/>
        </p:nvSpPr>
        <p:spPr>
          <a:xfrm>
            <a:off x="4663440" y="2880360"/>
            <a:ext cx="2926080" cy="457200"/>
          </a:xfrm>
          <a:prstGeom prst="rect">
            <a:avLst/>
          </a:prstGeom>
          <a:noFill/>
          <a:ln/>
        </p:spPr>
        <p:txBody>
          <a:bodyPr wrap="square" lIns="0" tIns="0" rIns="0" bIns="0" rtlCol="0" anchor="t"/>
          <a:lstStyle/>
          <a:p>
            <a:pPr marL="0" indent="0">
              <a:buNone/>
            </a:pPr>
            <a:r>
              <a:rPr lang="en-US" sz="2200" b="1" dirty="0">
                <a:solidFill>
                  <a:srgbClr val="1B1F3B"/>
                </a:solidFill>
                <a:latin typeface="Calibri" pitchFamily="34" charset="0"/>
                <a:ea typeface="Calibri" pitchFamily="34" charset="-122"/>
                <a:cs typeface="Calibri" pitchFamily="34" charset="-120"/>
              </a:rPr>
              <a:t>character counts</a:t>
            </a:r>
            <a:endParaRPr lang="en-US" sz="2200" dirty="0"/>
          </a:p>
        </p:txBody>
      </p:sp>
      <p:sp>
        <p:nvSpPr>
          <p:cNvPr id="10" name="Text 8"/>
          <p:cNvSpPr txBox="1"/>
          <p:nvPr/>
        </p:nvSpPr>
        <p:spPr>
          <a:xfrm>
            <a:off x="4663440" y="3429000"/>
            <a:ext cx="2926080" cy="118872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How often characters like ! and $ appear.</a:t>
            </a:r>
            <a:endParaRPr lang="en-US" sz="1600" dirty="0"/>
          </a:p>
        </p:txBody>
      </p:sp>
      <p:sp>
        <p:nvSpPr>
          <p:cNvPr id="11" name="Shape 9"/>
          <p:cNvSpPr/>
          <p:nvPr/>
        </p:nvSpPr>
        <p:spPr>
          <a:xfrm>
            <a:off x="8046720" y="1554480"/>
            <a:ext cx="3520440" cy="3200400"/>
          </a:xfrm>
          <a:prstGeom prst="roundRect">
            <a:avLst>
              <a:gd name="adj" fmla="val 4000"/>
            </a:avLst>
          </a:prstGeom>
          <a:solidFill>
            <a:srgbClr val="F1F2F8"/>
          </a:solidFill>
          <a:ln w="6350">
            <a:solidFill>
              <a:srgbClr val="F1F2F8"/>
            </a:solidFill>
            <a:prstDash val="solid"/>
          </a:ln>
        </p:spPr>
        <p:txBody>
          <a:bodyPr/>
          <a:lstStyle/>
          <a:p>
            <a:endParaRPr lang="en-PH"/>
          </a:p>
        </p:txBody>
      </p:sp>
      <p:sp>
        <p:nvSpPr>
          <p:cNvPr id="12" name="Text 10"/>
          <p:cNvSpPr txBox="1"/>
          <p:nvPr/>
        </p:nvSpPr>
        <p:spPr>
          <a:xfrm>
            <a:off x="8366760" y="1691640"/>
            <a:ext cx="2926080" cy="1097280"/>
          </a:xfrm>
          <a:prstGeom prst="rect">
            <a:avLst/>
          </a:prstGeom>
          <a:noFill/>
          <a:ln/>
        </p:spPr>
        <p:txBody>
          <a:bodyPr wrap="square" lIns="0" tIns="0" rIns="0" bIns="0" rtlCol="0" anchor="t"/>
          <a:lstStyle/>
          <a:p>
            <a:pPr marL="0" indent="0">
              <a:buNone/>
            </a:pPr>
            <a:r>
              <a:rPr lang="en-US" sz="7200" b="1" dirty="0">
                <a:solidFill>
                  <a:srgbClr val="E4572E"/>
                </a:solidFill>
                <a:latin typeface="Cambria" pitchFamily="34" charset="0"/>
                <a:ea typeface="Cambria" pitchFamily="34" charset="-122"/>
                <a:cs typeface="Cambria" pitchFamily="34" charset="-120"/>
              </a:rPr>
              <a:t>3</a:t>
            </a:r>
            <a:endParaRPr lang="en-US" sz="7200" dirty="0"/>
          </a:p>
        </p:txBody>
      </p:sp>
      <p:sp>
        <p:nvSpPr>
          <p:cNvPr id="13" name="Text 11"/>
          <p:cNvSpPr txBox="1"/>
          <p:nvPr/>
        </p:nvSpPr>
        <p:spPr>
          <a:xfrm>
            <a:off x="8366760" y="2880360"/>
            <a:ext cx="2926080" cy="457200"/>
          </a:xfrm>
          <a:prstGeom prst="rect">
            <a:avLst/>
          </a:prstGeom>
          <a:noFill/>
          <a:ln/>
        </p:spPr>
        <p:txBody>
          <a:bodyPr wrap="square" lIns="0" tIns="0" rIns="0" bIns="0" rtlCol="0" anchor="t"/>
          <a:lstStyle/>
          <a:p>
            <a:pPr marL="0" indent="0">
              <a:buNone/>
            </a:pPr>
            <a:r>
              <a:rPr lang="en-US" sz="2200" b="1" dirty="0">
                <a:solidFill>
                  <a:srgbClr val="1B1F3B"/>
                </a:solidFill>
                <a:latin typeface="Calibri" pitchFamily="34" charset="0"/>
                <a:ea typeface="Calibri" pitchFamily="34" charset="-122"/>
                <a:cs typeface="Calibri" pitchFamily="34" charset="-120"/>
              </a:rPr>
              <a:t>capital-letter measures</a:t>
            </a:r>
            <a:endParaRPr lang="en-US" sz="2200" dirty="0"/>
          </a:p>
        </p:txBody>
      </p:sp>
      <p:sp>
        <p:nvSpPr>
          <p:cNvPr id="14" name="Text 12"/>
          <p:cNvSpPr txBox="1"/>
          <p:nvPr/>
        </p:nvSpPr>
        <p:spPr>
          <a:xfrm>
            <a:off x="8366760" y="3429000"/>
            <a:ext cx="2926080" cy="118872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How much of the email is written in capital letters.</a:t>
            </a:r>
            <a:endParaRPr lang="en-US" sz="1600" dirty="0"/>
          </a:p>
        </p:txBody>
      </p:sp>
      <p:sp>
        <p:nvSpPr>
          <p:cNvPr id="15" name="Shape 13"/>
          <p:cNvSpPr/>
          <p:nvPr/>
        </p:nvSpPr>
        <p:spPr>
          <a:xfrm>
            <a:off x="640080" y="5029200"/>
            <a:ext cx="10908792" cy="1005840"/>
          </a:xfrm>
          <a:prstGeom prst="roundRect">
            <a:avLst>
              <a:gd name="adj" fmla="val 12727"/>
            </a:avLst>
          </a:prstGeom>
          <a:solidFill>
            <a:srgbClr val="DFF3F1"/>
          </a:solidFill>
          <a:ln w="6350">
            <a:solidFill>
              <a:srgbClr val="DFF3F1"/>
            </a:solidFill>
            <a:prstDash val="solid"/>
          </a:ln>
        </p:spPr>
        <p:txBody>
          <a:bodyPr/>
          <a:lstStyle/>
          <a:p>
            <a:endParaRPr lang="en-PH"/>
          </a:p>
        </p:txBody>
      </p:sp>
      <p:sp>
        <p:nvSpPr>
          <p:cNvPr id="16" name="Text 14"/>
          <p:cNvSpPr txBox="1"/>
          <p:nvPr/>
        </p:nvSpPr>
        <p:spPr>
          <a:xfrm>
            <a:off x="914400" y="5029200"/>
            <a:ext cx="10332720" cy="1005840"/>
          </a:xfrm>
          <a:prstGeom prst="rect">
            <a:avLst/>
          </a:prstGeom>
          <a:noFill/>
          <a:ln/>
        </p:spPr>
        <p:txBody>
          <a:bodyPr wrap="square" lIns="0" tIns="0" rIns="0" bIns="0" rtlCol="0" anchor="ctr"/>
          <a:lstStyle/>
          <a:p>
            <a:r>
              <a:rPr lang="en-US" sz="2000" b="1" dirty="0">
                <a:solidFill>
                  <a:srgbClr val="1B1F3B"/>
                </a:solidFill>
                <a:latin typeface="Calibri" pitchFamily="34" charset="0"/>
                <a:ea typeface="Calibri" pitchFamily="34" charset="-122"/>
                <a:cs typeface="Calibri" pitchFamily="34" charset="-120"/>
              </a:rPr>
              <a:t>The emails were already turned into numbers for us. Thanks to the dataset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The Experiment: Two Runs</a:t>
            </a:r>
            <a:endParaRPr lang="en-US" sz="3600" dirty="0"/>
          </a:p>
        </p:txBody>
      </p:sp>
      <p:sp>
        <p:nvSpPr>
          <p:cNvPr id="3" name="Shape 1"/>
          <p:cNvSpPr/>
          <p:nvPr/>
        </p:nvSpPr>
        <p:spPr>
          <a:xfrm>
            <a:off x="640080" y="1554480"/>
            <a:ext cx="5577840" cy="1325880"/>
          </a:xfrm>
          <a:prstGeom prst="roundRect">
            <a:avLst>
              <a:gd name="adj" fmla="val 9655"/>
            </a:avLst>
          </a:prstGeom>
          <a:solidFill>
            <a:srgbClr val="F1F2F8"/>
          </a:solidFill>
          <a:ln w="6350">
            <a:solidFill>
              <a:srgbClr val="F1F2F8"/>
            </a:solidFill>
            <a:prstDash val="solid"/>
          </a:ln>
        </p:spPr>
        <p:txBody>
          <a:bodyPr/>
          <a:lstStyle/>
          <a:p>
            <a:endParaRPr lang="en-PH"/>
          </a:p>
        </p:txBody>
      </p:sp>
      <p:sp>
        <p:nvSpPr>
          <p:cNvPr id="4" name="Shape 2"/>
          <p:cNvSpPr/>
          <p:nvPr/>
        </p:nvSpPr>
        <p:spPr>
          <a:xfrm>
            <a:off x="914400" y="1892808"/>
            <a:ext cx="640080" cy="640080"/>
          </a:xfrm>
          <a:prstGeom prst="ellipse">
            <a:avLst/>
          </a:prstGeom>
          <a:solidFill>
            <a:srgbClr val="17A398"/>
          </a:solidFill>
          <a:ln w="6350">
            <a:solidFill>
              <a:srgbClr val="17A398"/>
            </a:solidFill>
            <a:prstDash val="solid"/>
          </a:ln>
        </p:spPr>
        <p:txBody>
          <a:bodyPr/>
          <a:lstStyle/>
          <a:p>
            <a:endParaRPr lang="en-PH"/>
          </a:p>
        </p:txBody>
      </p:sp>
      <p:sp>
        <p:nvSpPr>
          <p:cNvPr id="5" name="Text 3"/>
          <p:cNvSpPr txBox="1"/>
          <p:nvPr/>
        </p:nvSpPr>
        <p:spPr>
          <a:xfrm>
            <a:off x="914400" y="1892808"/>
            <a:ext cx="640080" cy="6400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6" name="Text 4"/>
          <p:cNvSpPr txBox="1"/>
          <p:nvPr/>
        </p:nvSpPr>
        <p:spPr>
          <a:xfrm>
            <a:off x="1828800" y="1810512"/>
            <a:ext cx="4206240" cy="411480"/>
          </a:xfrm>
          <a:prstGeom prst="rect">
            <a:avLst/>
          </a:prstGeom>
          <a:noFill/>
          <a:ln/>
        </p:spPr>
        <p:txBody>
          <a:bodyPr wrap="square" lIns="0" tIns="0" rIns="0" bIns="0" rtlCol="0" anchor="t"/>
          <a:lstStyle/>
          <a:p>
            <a:pPr marL="0" indent="0">
              <a:buNone/>
            </a:pPr>
            <a:r>
              <a:rPr lang="en-US" sz="2100" b="1" dirty="0">
                <a:solidFill>
                  <a:srgbClr val="1B1F3B"/>
                </a:solidFill>
                <a:latin typeface="Calibri" pitchFamily="34" charset="0"/>
                <a:ea typeface="Calibri" pitchFamily="34" charset="-122"/>
                <a:cs typeface="Calibri" pitchFamily="34" charset="-120"/>
              </a:rPr>
              <a:t>Run 1: all 57 features</a:t>
            </a:r>
            <a:endParaRPr lang="en-US" sz="2100" dirty="0"/>
          </a:p>
        </p:txBody>
      </p:sp>
      <p:sp>
        <p:nvSpPr>
          <p:cNvPr id="7" name="Text 5"/>
          <p:cNvSpPr txBox="1"/>
          <p:nvPr/>
        </p:nvSpPr>
        <p:spPr>
          <a:xfrm>
            <a:off x="1828800" y="2267712"/>
            <a:ext cx="4206240" cy="45720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Words, symbols, and capital letters.</a:t>
            </a:r>
            <a:endParaRPr lang="en-US" sz="1600" dirty="0"/>
          </a:p>
        </p:txBody>
      </p:sp>
      <p:sp>
        <p:nvSpPr>
          <p:cNvPr id="8" name="Shape 6"/>
          <p:cNvSpPr/>
          <p:nvPr/>
        </p:nvSpPr>
        <p:spPr>
          <a:xfrm>
            <a:off x="640080" y="3127248"/>
            <a:ext cx="5577840" cy="1325880"/>
          </a:xfrm>
          <a:prstGeom prst="roundRect">
            <a:avLst>
              <a:gd name="adj" fmla="val 9655"/>
            </a:avLst>
          </a:prstGeom>
          <a:solidFill>
            <a:srgbClr val="F1F2F8"/>
          </a:solidFill>
          <a:ln w="6350">
            <a:solidFill>
              <a:srgbClr val="F1F2F8"/>
            </a:solidFill>
            <a:prstDash val="solid"/>
          </a:ln>
        </p:spPr>
        <p:txBody>
          <a:bodyPr/>
          <a:lstStyle/>
          <a:p>
            <a:endParaRPr lang="en-PH"/>
          </a:p>
        </p:txBody>
      </p:sp>
      <p:sp>
        <p:nvSpPr>
          <p:cNvPr id="9" name="Shape 7"/>
          <p:cNvSpPr/>
          <p:nvPr/>
        </p:nvSpPr>
        <p:spPr>
          <a:xfrm>
            <a:off x="914400" y="3465576"/>
            <a:ext cx="640080" cy="640080"/>
          </a:xfrm>
          <a:prstGeom prst="ellipse">
            <a:avLst/>
          </a:prstGeom>
          <a:solidFill>
            <a:srgbClr val="E4572E"/>
          </a:solidFill>
          <a:ln w="6350">
            <a:solidFill>
              <a:srgbClr val="E4572E"/>
            </a:solidFill>
            <a:prstDash val="solid"/>
          </a:ln>
        </p:spPr>
        <p:txBody>
          <a:bodyPr/>
          <a:lstStyle/>
          <a:p>
            <a:endParaRPr lang="en-PH"/>
          </a:p>
        </p:txBody>
      </p:sp>
      <p:sp>
        <p:nvSpPr>
          <p:cNvPr id="10" name="Text 8"/>
          <p:cNvSpPr txBox="1"/>
          <p:nvPr/>
        </p:nvSpPr>
        <p:spPr>
          <a:xfrm>
            <a:off x="914400" y="3465576"/>
            <a:ext cx="640080" cy="6400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1" name="Text 9"/>
          <p:cNvSpPr txBox="1"/>
          <p:nvPr/>
        </p:nvSpPr>
        <p:spPr>
          <a:xfrm>
            <a:off x="1828800" y="3383280"/>
            <a:ext cx="4206240" cy="411480"/>
          </a:xfrm>
          <a:prstGeom prst="rect">
            <a:avLst/>
          </a:prstGeom>
          <a:noFill/>
          <a:ln/>
        </p:spPr>
        <p:txBody>
          <a:bodyPr wrap="square" lIns="0" tIns="0" rIns="0" bIns="0" rtlCol="0" anchor="t"/>
          <a:lstStyle/>
          <a:p>
            <a:pPr marL="0" indent="0">
              <a:buNone/>
            </a:pPr>
            <a:r>
              <a:rPr lang="en-US" sz="2100" b="1" dirty="0">
                <a:solidFill>
                  <a:srgbClr val="1B1F3B"/>
                </a:solidFill>
                <a:latin typeface="Calibri" pitchFamily="34" charset="0"/>
                <a:ea typeface="Calibri" pitchFamily="34" charset="-122"/>
                <a:cs typeface="Calibri" pitchFamily="34" charset="-120"/>
              </a:rPr>
              <a:t>Run 2: only 3 features</a:t>
            </a:r>
            <a:endParaRPr lang="en-US" sz="2100" dirty="0"/>
          </a:p>
        </p:txBody>
      </p:sp>
      <p:sp>
        <p:nvSpPr>
          <p:cNvPr id="12" name="Text 10"/>
          <p:cNvSpPr txBox="1"/>
          <p:nvPr/>
        </p:nvSpPr>
        <p:spPr>
          <a:xfrm>
            <a:off x="1828800" y="3840480"/>
            <a:ext cx="4206240" cy="45720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Only the capital-letter numbers. No words.</a:t>
            </a:r>
            <a:endParaRPr lang="en-US" sz="1600" dirty="0"/>
          </a:p>
        </p:txBody>
      </p:sp>
      <p:sp>
        <p:nvSpPr>
          <p:cNvPr id="13" name="Shape 11"/>
          <p:cNvSpPr/>
          <p:nvPr/>
        </p:nvSpPr>
        <p:spPr>
          <a:xfrm>
            <a:off x="640080" y="4700016"/>
            <a:ext cx="5577840" cy="1325880"/>
          </a:xfrm>
          <a:prstGeom prst="roundRect">
            <a:avLst>
              <a:gd name="adj" fmla="val 9655"/>
            </a:avLst>
          </a:prstGeom>
          <a:solidFill>
            <a:srgbClr val="E9EAF2"/>
          </a:solidFill>
          <a:ln w="6350">
            <a:solidFill>
              <a:srgbClr val="E9EAF2"/>
            </a:solidFill>
            <a:prstDash val="solid"/>
          </a:ln>
        </p:spPr>
        <p:txBody>
          <a:bodyPr/>
          <a:lstStyle/>
          <a:p>
            <a:endParaRPr lang="en-PH"/>
          </a:p>
        </p:txBody>
      </p:sp>
      <p:sp>
        <p:nvSpPr>
          <p:cNvPr id="14" name="Shape 12"/>
          <p:cNvSpPr/>
          <p:nvPr/>
        </p:nvSpPr>
        <p:spPr>
          <a:xfrm>
            <a:off x="914400" y="5038344"/>
            <a:ext cx="640080" cy="640080"/>
          </a:xfrm>
          <a:prstGeom prst="ellipse">
            <a:avLst/>
          </a:prstGeom>
          <a:solidFill>
            <a:srgbClr val="8A8FA8"/>
          </a:solidFill>
          <a:ln w="6350">
            <a:solidFill>
              <a:srgbClr val="8A8FA8"/>
            </a:solidFill>
            <a:prstDash val="solid"/>
          </a:ln>
        </p:spPr>
        <p:txBody>
          <a:bodyPr/>
          <a:lstStyle/>
          <a:p>
            <a:endParaRPr lang="en-PH"/>
          </a:p>
        </p:txBody>
      </p:sp>
      <p:pic>
        <p:nvPicPr>
          <p:cNvPr id="15" name="Image 0" descr="preencoded.png"/>
          <p:cNvPicPr>
            <a:picLocks noChangeAspect="1"/>
          </p:cNvPicPr>
          <p:nvPr/>
        </p:nvPicPr>
        <p:blipFill>
          <a:blip r:embed="rId3"/>
          <a:stretch>
            <a:fillRect/>
          </a:stretch>
        </p:blipFill>
        <p:spPr>
          <a:xfrm>
            <a:off x="1074420" y="5198364"/>
            <a:ext cx="320040" cy="320040"/>
          </a:xfrm>
          <a:prstGeom prst="rect">
            <a:avLst/>
          </a:prstGeom>
        </p:spPr>
      </p:pic>
      <p:sp>
        <p:nvSpPr>
          <p:cNvPr id="16" name="Text 13"/>
          <p:cNvSpPr txBox="1"/>
          <p:nvPr/>
        </p:nvSpPr>
        <p:spPr>
          <a:xfrm>
            <a:off x="1828800" y="4956048"/>
            <a:ext cx="4206240" cy="411480"/>
          </a:xfrm>
          <a:prstGeom prst="rect">
            <a:avLst/>
          </a:prstGeom>
          <a:noFill/>
          <a:ln/>
        </p:spPr>
        <p:txBody>
          <a:bodyPr wrap="square" lIns="0" tIns="0" rIns="0" bIns="0" rtlCol="0" anchor="t"/>
          <a:lstStyle/>
          <a:p>
            <a:pPr marL="0" indent="0">
              <a:buNone/>
            </a:pPr>
            <a:r>
              <a:rPr lang="en-US" sz="2100" b="1" dirty="0">
                <a:solidFill>
                  <a:srgbClr val="1B1F3B"/>
                </a:solidFill>
                <a:latin typeface="Calibri" pitchFamily="34" charset="0"/>
                <a:ea typeface="Calibri" pitchFamily="34" charset="-122"/>
                <a:cs typeface="Calibri" pitchFamily="34" charset="-120"/>
              </a:rPr>
              <a:t>The bar to beat: 60.6%</a:t>
            </a:r>
            <a:endParaRPr lang="en-US" sz="2100" dirty="0"/>
          </a:p>
        </p:txBody>
      </p:sp>
      <p:sp>
        <p:nvSpPr>
          <p:cNvPr id="17" name="Text 14"/>
          <p:cNvSpPr txBox="1"/>
          <p:nvPr/>
        </p:nvSpPr>
        <p:spPr>
          <a:xfrm>
            <a:off x="1828800" y="5413248"/>
            <a:ext cx="4206240" cy="45720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Always guessing “not spam”.</a:t>
            </a:r>
            <a:endParaRPr lang="en-US" sz="1600" dirty="0"/>
          </a:p>
        </p:txBody>
      </p:sp>
      <p:sp>
        <p:nvSpPr>
          <p:cNvPr id="18" name="Shape 15"/>
          <p:cNvSpPr/>
          <p:nvPr/>
        </p:nvSpPr>
        <p:spPr>
          <a:xfrm>
            <a:off x="6492240" y="1554480"/>
            <a:ext cx="5056632" cy="4471416"/>
          </a:xfrm>
          <a:prstGeom prst="roundRect">
            <a:avLst>
              <a:gd name="adj" fmla="val 2863"/>
            </a:avLst>
          </a:prstGeom>
          <a:solidFill>
            <a:srgbClr val="F1F2F8"/>
          </a:solidFill>
          <a:ln w="6350">
            <a:solidFill>
              <a:srgbClr val="F1F2F8"/>
            </a:solidFill>
            <a:prstDash val="solid"/>
          </a:ln>
        </p:spPr>
        <p:txBody>
          <a:bodyPr/>
          <a:lstStyle/>
          <a:p>
            <a:endParaRPr lang="en-PH"/>
          </a:p>
        </p:txBody>
      </p:sp>
      <p:sp>
        <p:nvSpPr>
          <p:cNvPr id="19" name="Text 16"/>
          <p:cNvSpPr txBox="1"/>
          <p:nvPr/>
        </p:nvSpPr>
        <p:spPr>
          <a:xfrm>
            <a:off x="6812280" y="1783080"/>
            <a:ext cx="4480560" cy="457200"/>
          </a:xfrm>
          <a:prstGeom prst="rect">
            <a:avLst/>
          </a:prstGeom>
          <a:noFill/>
          <a:ln/>
        </p:spPr>
        <p:txBody>
          <a:bodyPr wrap="square" lIns="0" tIns="0" rIns="0" bIns="0" rtlCol="0" anchor="t"/>
          <a:lstStyle/>
          <a:p>
            <a:pPr marL="0" indent="0">
              <a:buNone/>
            </a:pPr>
            <a:r>
              <a:rPr lang="en-US" sz="2200" b="1" dirty="0">
                <a:solidFill>
                  <a:srgbClr val="1B1F3B"/>
                </a:solidFill>
                <a:latin typeface="Calibri" pitchFamily="34" charset="0"/>
                <a:ea typeface="Calibri" pitchFamily="34" charset="-122"/>
                <a:cs typeface="Calibri" pitchFamily="34" charset="-120"/>
              </a:rPr>
              <a:t>Same settings both times</a:t>
            </a:r>
            <a:endParaRPr lang="en-US" sz="2200" dirty="0"/>
          </a:p>
        </p:txBody>
      </p:sp>
      <p:sp>
        <p:nvSpPr>
          <p:cNvPr id="20" name="Text 17"/>
          <p:cNvSpPr txBox="1"/>
          <p:nvPr/>
        </p:nvSpPr>
        <p:spPr>
          <a:xfrm>
            <a:off x="6812280" y="2240280"/>
            <a:ext cx="4480560" cy="548640"/>
          </a:xfrm>
          <a:prstGeom prst="rect">
            <a:avLst/>
          </a:prstGeom>
          <a:noFill/>
          <a:ln/>
        </p:spPr>
        <p:txBody>
          <a:bodyPr wrap="square" lIns="0" tIns="0" rIns="0" bIns="0" rtlCol="0" anchor="t"/>
          <a:lstStyle/>
          <a:p>
            <a:pPr marL="0" indent="0">
              <a:buNone/>
            </a:pPr>
            <a:r>
              <a:rPr lang="en-US" sz="1400" dirty="0">
                <a:solidFill>
                  <a:srgbClr val="5B6078"/>
                </a:solidFill>
                <a:latin typeface="Calibri" pitchFamily="34" charset="0"/>
                <a:ea typeface="Calibri" pitchFamily="34" charset="-122"/>
                <a:cs typeface="Calibri" pitchFamily="34" charset="-120"/>
              </a:rPr>
              <a:t>A small neural network in ML Console, default settings</a:t>
            </a:r>
            <a:endParaRPr lang="en-US" sz="1400" dirty="0"/>
          </a:p>
        </p:txBody>
      </p:sp>
      <p:sp>
        <p:nvSpPr>
          <p:cNvPr id="21" name="Text 18"/>
          <p:cNvSpPr txBox="1"/>
          <p:nvPr/>
        </p:nvSpPr>
        <p:spPr>
          <a:xfrm>
            <a:off x="6812280" y="2926080"/>
            <a:ext cx="2377440" cy="411480"/>
          </a:xfrm>
          <a:prstGeom prst="rect">
            <a:avLst/>
          </a:prstGeom>
          <a:noFill/>
          <a:ln/>
        </p:spPr>
        <p:txBody>
          <a:bodyPr wrap="square" lIns="0" tIns="0" rIns="0" bIns="0" rtlCol="0" anchor="ctr"/>
          <a:lstStyle/>
          <a:p>
            <a:pPr marL="0" indent="0">
              <a:buNone/>
            </a:pPr>
            <a:r>
              <a:rPr lang="en-US" sz="1800" dirty="0">
                <a:solidFill>
                  <a:srgbClr val="5B6078"/>
                </a:solidFill>
                <a:latin typeface="Calibri" pitchFamily="34" charset="0"/>
                <a:ea typeface="Calibri" pitchFamily="34" charset="-122"/>
                <a:cs typeface="Calibri" pitchFamily="34" charset="-120"/>
              </a:rPr>
              <a:t>Hidden layers</a:t>
            </a:r>
            <a:endParaRPr lang="en-US" sz="1800" dirty="0"/>
          </a:p>
        </p:txBody>
      </p:sp>
      <p:sp>
        <p:nvSpPr>
          <p:cNvPr id="22" name="Text 19"/>
          <p:cNvSpPr txBox="1"/>
          <p:nvPr/>
        </p:nvSpPr>
        <p:spPr>
          <a:xfrm>
            <a:off x="9326880" y="2926080"/>
            <a:ext cx="2011680" cy="411480"/>
          </a:xfrm>
          <a:prstGeom prst="rect">
            <a:avLst/>
          </a:prstGeom>
          <a:noFill/>
          <a:ln/>
        </p:spPr>
        <p:txBody>
          <a:bodyPr wrap="square" lIns="0" tIns="0" rIns="0" bIns="0" rtlCol="0" anchor="ctr"/>
          <a:lstStyle/>
          <a:p>
            <a:pPr marL="0" indent="0">
              <a:buNone/>
            </a:pPr>
            <a:r>
              <a:rPr lang="en-US" sz="1800" b="1" dirty="0">
                <a:solidFill>
                  <a:srgbClr val="1B1F3B"/>
                </a:solidFill>
                <a:latin typeface="Calibri" pitchFamily="34" charset="0"/>
                <a:ea typeface="Calibri" pitchFamily="34" charset="-122"/>
                <a:cs typeface="Calibri" pitchFamily="34" charset="-120"/>
              </a:rPr>
              <a:t>1</a:t>
            </a:r>
            <a:endParaRPr lang="en-US" sz="1800" dirty="0"/>
          </a:p>
        </p:txBody>
      </p:sp>
      <p:sp>
        <p:nvSpPr>
          <p:cNvPr id="23" name="Text 20"/>
          <p:cNvSpPr txBox="1"/>
          <p:nvPr/>
        </p:nvSpPr>
        <p:spPr>
          <a:xfrm>
            <a:off x="6812280" y="3429000"/>
            <a:ext cx="2377440" cy="411480"/>
          </a:xfrm>
          <a:prstGeom prst="rect">
            <a:avLst/>
          </a:prstGeom>
          <a:noFill/>
          <a:ln/>
        </p:spPr>
        <p:txBody>
          <a:bodyPr wrap="square" lIns="0" tIns="0" rIns="0" bIns="0" rtlCol="0" anchor="ctr"/>
          <a:lstStyle/>
          <a:p>
            <a:pPr marL="0" indent="0">
              <a:buNone/>
            </a:pPr>
            <a:r>
              <a:rPr lang="en-US" sz="1800" dirty="0">
                <a:solidFill>
                  <a:srgbClr val="5B6078"/>
                </a:solidFill>
                <a:latin typeface="Calibri" pitchFamily="34" charset="0"/>
                <a:ea typeface="Calibri" pitchFamily="34" charset="-122"/>
                <a:cs typeface="Calibri" pitchFamily="34" charset="-120"/>
              </a:rPr>
              <a:t>Units per layer</a:t>
            </a:r>
            <a:endParaRPr lang="en-US" sz="1800" dirty="0"/>
          </a:p>
        </p:txBody>
      </p:sp>
      <p:sp>
        <p:nvSpPr>
          <p:cNvPr id="24" name="Text 21"/>
          <p:cNvSpPr txBox="1"/>
          <p:nvPr/>
        </p:nvSpPr>
        <p:spPr>
          <a:xfrm>
            <a:off x="9326880" y="3429000"/>
            <a:ext cx="2011680" cy="411480"/>
          </a:xfrm>
          <a:prstGeom prst="rect">
            <a:avLst/>
          </a:prstGeom>
          <a:noFill/>
          <a:ln/>
        </p:spPr>
        <p:txBody>
          <a:bodyPr wrap="square" lIns="0" tIns="0" rIns="0" bIns="0" rtlCol="0" anchor="ctr"/>
          <a:lstStyle/>
          <a:p>
            <a:pPr marL="0" indent="0">
              <a:buNone/>
            </a:pPr>
            <a:r>
              <a:rPr lang="en-US" sz="1800" b="1" dirty="0">
                <a:solidFill>
                  <a:srgbClr val="1B1F3B"/>
                </a:solidFill>
                <a:latin typeface="Calibri" pitchFamily="34" charset="0"/>
                <a:ea typeface="Calibri" pitchFamily="34" charset="-122"/>
                <a:cs typeface="Calibri" pitchFamily="34" charset="-120"/>
              </a:rPr>
              <a:t>64</a:t>
            </a:r>
            <a:endParaRPr lang="en-US" sz="1800" dirty="0"/>
          </a:p>
        </p:txBody>
      </p:sp>
      <p:sp>
        <p:nvSpPr>
          <p:cNvPr id="25" name="Text 22"/>
          <p:cNvSpPr txBox="1"/>
          <p:nvPr/>
        </p:nvSpPr>
        <p:spPr>
          <a:xfrm>
            <a:off x="6812280" y="3931920"/>
            <a:ext cx="2377440" cy="411480"/>
          </a:xfrm>
          <a:prstGeom prst="rect">
            <a:avLst/>
          </a:prstGeom>
          <a:noFill/>
          <a:ln/>
        </p:spPr>
        <p:txBody>
          <a:bodyPr wrap="square" lIns="0" tIns="0" rIns="0" bIns="0" rtlCol="0" anchor="ctr"/>
          <a:lstStyle/>
          <a:p>
            <a:pPr marL="0" indent="0">
              <a:buNone/>
            </a:pPr>
            <a:r>
              <a:rPr lang="en-US" sz="1800" dirty="0">
                <a:solidFill>
                  <a:srgbClr val="5B6078"/>
                </a:solidFill>
                <a:latin typeface="Calibri" pitchFamily="34" charset="0"/>
                <a:ea typeface="Calibri" pitchFamily="34" charset="-122"/>
                <a:cs typeface="Calibri" pitchFamily="34" charset="-120"/>
              </a:rPr>
              <a:t>Optimizer</a:t>
            </a:r>
            <a:endParaRPr lang="en-US" sz="1800" dirty="0"/>
          </a:p>
        </p:txBody>
      </p:sp>
      <p:sp>
        <p:nvSpPr>
          <p:cNvPr id="26" name="Text 23"/>
          <p:cNvSpPr txBox="1"/>
          <p:nvPr/>
        </p:nvSpPr>
        <p:spPr>
          <a:xfrm>
            <a:off x="9326880" y="3931920"/>
            <a:ext cx="2011680" cy="411480"/>
          </a:xfrm>
          <a:prstGeom prst="rect">
            <a:avLst/>
          </a:prstGeom>
          <a:noFill/>
          <a:ln/>
        </p:spPr>
        <p:txBody>
          <a:bodyPr wrap="square" lIns="0" tIns="0" rIns="0" bIns="0" rtlCol="0" anchor="ctr"/>
          <a:lstStyle/>
          <a:p>
            <a:pPr marL="0" indent="0">
              <a:buNone/>
            </a:pPr>
            <a:r>
              <a:rPr lang="en-US" sz="1800" b="1" dirty="0">
                <a:solidFill>
                  <a:srgbClr val="1B1F3B"/>
                </a:solidFill>
                <a:latin typeface="Calibri" pitchFamily="34" charset="0"/>
                <a:ea typeface="Calibri" pitchFamily="34" charset="-122"/>
                <a:cs typeface="Calibri" pitchFamily="34" charset="-120"/>
              </a:rPr>
              <a:t>adagrad</a:t>
            </a:r>
            <a:endParaRPr lang="en-US" sz="1800" dirty="0"/>
          </a:p>
        </p:txBody>
      </p:sp>
      <p:sp>
        <p:nvSpPr>
          <p:cNvPr id="27" name="Text 24"/>
          <p:cNvSpPr txBox="1"/>
          <p:nvPr/>
        </p:nvSpPr>
        <p:spPr>
          <a:xfrm>
            <a:off x="6812280" y="4434840"/>
            <a:ext cx="2377440" cy="411480"/>
          </a:xfrm>
          <a:prstGeom prst="rect">
            <a:avLst/>
          </a:prstGeom>
          <a:noFill/>
          <a:ln/>
        </p:spPr>
        <p:txBody>
          <a:bodyPr wrap="square" lIns="0" tIns="0" rIns="0" bIns="0" rtlCol="0" anchor="ctr"/>
          <a:lstStyle/>
          <a:p>
            <a:pPr marL="0" indent="0">
              <a:buNone/>
            </a:pPr>
            <a:r>
              <a:rPr lang="en-US" sz="1800" dirty="0">
                <a:solidFill>
                  <a:srgbClr val="5B6078"/>
                </a:solidFill>
                <a:latin typeface="Calibri" pitchFamily="34" charset="0"/>
                <a:ea typeface="Calibri" pitchFamily="34" charset="-122"/>
                <a:cs typeface="Calibri" pitchFamily="34" charset="-120"/>
              </a:rPr>
              <a:t>Learning rate</a:t>
            </a:r>
            <a:endParaRPr lang="en-US" sz="1800" dirty="0"/>
          </a:p>
        </p:txBody>
      </p:sp>
      <p:sp>
        <p:nvSpPr>
          <p:cNvPr id="28" name="Text 25"/>
          <p:cNvSpPr txBox="1"/>
          <p:nvPr/>
        </p:nvSpPr>
        <p:spPr>
          <a:xfrm>
            <a:off x="9326880" y="4434840"/>
            <a:ext cx="2011680" cy="411480"/>
          </a:xfrm>
          <a:prstGeom prst="rect">
            <a:avLst/>
          </a:prstGeom>
          <a:noFill/>
          <a:ln/>
        </p:spPr>
        <p:txBody>
          <a:bodyPr wrap="square" lIns="0" tIns="0" rIns="0" bIns="0" rtlCol="0" anchor="ctr"/>
          <a:lstStyle/>
          <a:p>
            <a:pPr marL="0" indent="0">
              <a:buNone/>
            </a:pPr>
            <a:r>
              <a:rPr lang="en-US" sz="1800" b="1" dirty="0">
                <a:solidFill>
                  <a:srgbClr val="1B1F3B"/>
                </a:solidFill>
                <a:latin typeface="Calibri" pitchFamily="34" charset="0"/>
                <a:ea typeface="Calibri" pitchFamily="34" charset="-122"/>
                <a:cs typeface="Calibri" pitchFamily="34" charset="-120"/>
              </a:rPr>
              <a:t>0.04</a:t>
            </a:r>
            <a:endParaRPr lang="en-US" sz="1800" dirty="0"/>
          </a:p>
        </p:txBody>
      </p:sp>
      <p:sp>
        <p:nvSpPr>
          <p:cNvPr id="29" name="Text 26"/>
          <p:cNvSpPr txBox="1"/>
          <p:nvPr/>
        </p:nvSpPr>
        <p:spPr>
          <a:xfrm>
            <a:off x="6812280" y="4937760"/>
            <a:ext cx="2377440" cy="411480"/>
          </a:xfrm>
          <a:prstGeom prst="rect">
            <a:avLst/>
          </a:prstGeom>
          <a:noFill/>
          <a:ln/>
        </p:spPr>
        <p:txBody>
          <a:bodyPr wrap="square" lIns="0" tIns="0" rIns="0" bIns="0" rtlCol="0" anchor="ctr"/>
          <a:lstStyle/>
          <a:p>
            <a:pPr marL="0" indent="0">
              <a:buNone/>
            </a:pPr>
            <a:r>
              <a:rPr lang="en-US" sz="1800" dirty="0">
                <a:solidFill>
                  <a:srgbClr val="5B6078"/>
                </a:solidFill>
                <a:latin typeface="Calibri" pitchFamily="34" charset="0"/>
                <a:ea typeface="Calibri" pitchFamily="34" charset="-122"/>
                <a:cs typeface="Calibri" pitchFamily="34" charset="-120"/>
              </a:rPr>
              <a:t>Batch size</a:t>
            </a:r>
            <a:endParaRPr lang="en-US" sz="1800" dirty="0"/>
          </a:p>
        </p:txBody>
      </p:sp>
      <p:sp>
        <p:nvSpPr>
          <p:cNvPr id="30" name="Text 27"/>
          <p:cNvSpPr txBox="1"/>
          <p:nvPr/>
        </p:nvSpPr>
        <p:spPr>
          <a:xfrm>
            <a:off x="9326880" y="4937760"/>
            <a:ext cx="2011680" cy="411480"/>
          </a:xfrm>
          <a:prstGeom prst="rect">
            <a:avLst/>
          </a:prstGeom>
          <a:noFill/>
          <a:ln/>
        </p:spPr>
        <p:txBody>
          <a:bodyPr wrap="square" lIns="0" tIns="0" rIns="0" bIns="0" rtlCol="0" anchor="ctr"/>
          <a:lstStyle/>
          <a:p>
            <a:pPr marL="0" indent="0">
              <a:buNone/>
            </a:pPr>
            <a:r>
              <a:rPr lang="en-US" sz="1800" b="1" dirty="0">
                <a:solidFill>
                  <a:srgbClr val="1B1F3B"/>
                </a:solidFill>
                <a:latin typeface="Calibri" pitchFamily="34" charset="0"/>
                <a:ea typeface="Calibri" pitchFamily="34" charset="-122"/>
                <a:cs typeface="Calibri" pitchFamily="34" charset="-120"/>
              </a:rPr>
              <a:t>16</a:t>
            </a:r>
            <a:endParaRPr lang="en-US" sz="1800" dirty="0"/>
          </a:p>
        </p:txBody>
      </p:sp>
      <p:sp>
        <p:nvSpPr>
          <p:cNvPr id="31" name="Text 28"/>
          <p:cNvSpPr txBox="1"/>
          <p:nvPr/>
        </p:nvSpPr>
        <p:spPr>
          <a:xfrm>
            <a:off x="6812280" y="5440680"/>
            <a:ext cx="2377440" cy="411480"/>
          </a:xfrm>
          <a:prstGeom prst="rect">
            <a:avLst/>
          </a:prstGeom>
          <a:noFill/>
          <a:ln/>
        </p:spPr>
        <p:txBody>
          <a:bodyPr wrap="square" lIns="0" tIns="0" rIns="0" bIns="0" rtlCol="0" anchor="ctr"/>
          <a:lstStyle/>
          <a:p>
            <a:pPr marL="0" indent="0">
              <a:buNone/>
            </a:pPr>
            <a:r>
              <a:rPr lang="en-US" sz="1800" dirty="0">
                <a:solidFill>
                  <a:srgbClr val="5B6078"/>
                </a:solidFill>
                <a:latin typeface="Calibri" pitchFamily="34" charset="0"/>
                <a:ea typeface="Calibri" pitchFamily="34" charset="-122"/>
                <a:cs typeface="Calibri" pitchFamily="34" charset="-120"/>
              </a:rPr>
              <a:t>Max epochs</a:t>
            </a:r>
            <a:endParaRPr lang="en-US" sz="1800" dirty="0"/>
          </a:p>
        </p:txBody>
      </p:sp>
      <p:sp>
        <p:nvSpPr>
          <p:cNvPr id="32" name="Text 29"/>
          <p:cNvSpPr txBox="1"/>
          <p:nvPr/>
        </p:nvSpPr>
        <p:spPr>
          <a:xfrm>
            <a:off x="9326880" y="5440680"/>
            <a:ext cx="2011680" cy="411480"/>
          </a:xfrm>
          <a:prstGeom prst="rect">
            <a:avLst/>
          </a:prstGeom>
          <a:noFill/>
          <a:ln/>
        </p:spPr>
        <p:txBody>
          <a:bodyPr wrap="square" lIns="0" tIns="0" rIns="0" bIns="0" rtlCol="0" anchor="ctr"/>
          <a:lstStyle/>
          <a:p>
            <a:pPr marL="0" indent="0">
              <a:buNone/>
            </a:pPr>
            <a:r>
              <a:rPr lang="en-US" sz="1800" b="1" dirty="0">
                <a:solidFill>
                  <a:srgbClr val="1B1F3B"/>
                </a:solidFill>
                <a:latin typeface="Calibri" pitchFamily="34" charset="0"/>
                <a:ea typeface="Calibri" pitchFamily="34" charset="-122"/>
                <a:cs typeface="Calibri" pitchFamily="34" charset="-120"/>
              </a:rPr>
              <a:t>150</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What I Found</a:t>
            </a:r>
            <a:endParaRPr lang="en-US" sz="3600" dirty="0"/>
          </a:p>
        </p:txBody>
      </p:sp>
      <p:graphicFrame>
        <p:nvGraphicFramePr>
          <p:cNvPr id="3" name="Chart 0"/>
          <p:cNvGraphicFramePr/>
          <p:nvPr/>
        </p:nvGraphicFramePr>
        <p:xfrm>
          <a:off x="640080" y="1463040"/>
          <a:ext cx="65836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589520" y="1554480"/>
            <a:ext cx="3959352" cy="2148840"/>
          </a:xfrm>
          <a:prstGeom prst="roundRect">
            <a:avLst>
              <a:gd name="adj" fmla="val 5957"/>
            </a:avLst>
          </a:prstGeom>
          <a:solidFill>
            <a:srgbClr val="DFF3F1"/>
          </a:solidFill>
          <a:ln w="6350">
            <a:solidFill>
              <a:srgbClr val="DFF3F1"/>
            </a:solidFill>
            <a:prstDash val="solid"/>
          </a:ln>
        </p:spPr>
        <p:txBody>
          <a:bodyPr/>
          <a:lstStyle/>
          <a:p>
            <a:endParaRPr lang="en-PH"/>
          </a:p>
        </p:txBody>
      </p:sp>
      <p:sp>
        <p:nvSpPr>
          <p:cNvPr id="5" name="Text 2"/>
          <p:cNvSpPr txBox="1"/>
          <p:nvPr/>
        </p:nvSpPr>
        <p:spPr>
          <a:xfrm>
            <a:off x="7863840" y="1691640"/>
            <a:ext cx="3474720" cy="914400"/>
          </a:xfrm>
          <a:prstGeom prst="rect">
            <a:avLst/>
          </a:prstGeom>
          <a:noFill/>
          <a:ln/>
        </p:spPr>
        <p:txBody>
          <a:bodyPr wrap="square" lIns="0" tIns="0" rIns="0" bIns="0" rtlCol="0" anchor="t"/>
          <a:lstStyle/>
          <a:p>
            <a:pPr marL="0" indent="0">
              <a:buNone/>
            </a:pPr>
            <a:r>
              <a:rPr lang="en-US" sz="5400" b="1" dirty="0">
                <a:solidFill>
                  <a:srgbClr val="17A398"/>
                </a:solidFill>
                <a:latin typeface="Cambria" pitchFamily="34" charset="0"/>
                <a:ea typeface="Cambria" pitchFamily="34" charset="-122"/>
                <a:cs typeface="Cambria" pitchFamily="34" charset="-120"/>
              </a:rPr>
              <a:t>+32.2</a:t>
            </a:r>
            <a:endParaRPr lang="en-US" sz="5400" dirty="0"/>
          </a:p>
        </p:txBody>
      </p:sp>
      <p:sp>
        <p:nvSpPr>
          <p:cNvPr id="6" name="Text 3"/>
          <p:cNvSpPr txBox="1"/>
          <p:nvPr/>
        </p:nvSpPr>
        <p:spPr>
          <a:xfrm>
            <a:off x="7863840" y="2651760"/>
            <a:ext cx="3474720" cy="914400"/>
          </a:xfrm>
          <a:prstGeom prst="rect">
            <a:avLst/>
          </a:prstGeom>
          <a:noFill/>
          <a:ln/>
        </p:spPr>
        <p:txBody>
          <a:bodyPr wrap="square" lIns="0" tIns="0" rIns="0" bIns="0" rtlCol="0" anchor="t"/>
          <a:lstStyle/>
          <a:p>
            <a:pPr marL="0" indent="0">
              <a:buNone/>
            </a:pPr>
            <a:r>
              <a:rPr lang="en-US" sz="1700" dirty="0">
                <a:solidFill>
                  <a:srgbClr val="1B1F3B"/>
                </a:solidFill>
                <a:latin typeface="Calibri" pitchFamily="34" charset="0"/>
                <a:ea typeface="Calibri" pitchFamily="34" charset="-122"/>
                <a:cs typeface="Calibri" pitchFamily="34" charset="-120"/>
              </a:rPr>
              <a:t>points above the bar to beat, with all 57 features</a:t>
            </a:r>
            <a:endParaRPr lang="en-US" sz="1700" dirty="0"/>
          </a:p>
        </p:txBody>
      </p:sp>
      <p:sp>
        <p:nvSpPr>
          <p:cNvPr id="7" name="Shape 4"/>
          <p:cNvSpPr/>
          <p:nvPr/>
        </p:nvSpPr>
        <p:spPr>
          <a:xfrm>
            <a:off x="7589520" y="3931920"/>
            <a:ext cx="3959352" cy="2103120"/>
          </a:xfrm>
          <a:prstGeom prst="roundRect">
            <a:avLst>
              <a:gd name="adj" fmla="val 6087"/>
            </a:avLst>
          </a:prstGeom>
          <a:solidFill>
            <a:srgbClr val="FCE9E4"/>
          </a:solidFill>
          <a:ln w="6350">
            <a:solidFill>
              <a:srgbClr val="FCE9E4"/>
            </a:solidFill>
            <a:prstDash val="solid"/>
          </a:ln>
        </p:spPr>
        <p:txBody>
          <a:bodyPr/>
          <a:lstStyle/>
          <a:p>
            <a:endParaRPr lang="en-PH"/>
          </a:p>
        </p:txBody>
      </p:sp>
      <p:sp>
        <p:nvSpPr>
          <p:cNvPr id="8" name="Text 5"/>
          <p:cNvSpPr txBox="1"/>
          <p:nvPr/>
        </p:nvSpPr>
        <p:spPr>
          <a:xfrm>
            <a:off x="7863840" y="4069080"/>
            <a:ext cx="3474720" cy="914400"/>
          </a:xfrm>
          <a:prstGeom prst="rect">
            <a:avLst/>
          </a:prstGeom>
          <a:noFill/>
          <a:ln/>
        </p:spPr>
        <p:txBody>
          <a:bodyPr wrap="square" lIns="0" tIns="0" rIns="0" bIns="0" rtlCol="0" anchor="t"/>
          <a:lstStyle/>
          <a:p>
            <a:pPr marL="0" indent="0">
              <a:buNone/>
            </a:pPr>
            <a:r>
              <a:rPr lang="en-US" sz="5400" b="1" dirty="0">
                <a:solidFill>
                  <a:srgbClr val="E4572E"/>
                </a:solidFill>
                <a:latin typeface="Cambria" pitchFamily="34" charset="0"/>
                <a:ea typeface="Cambria" pitchFamily="34" charset="-122"/>
                <a:cs typeface="Cambria" pitchFamily="34" charset="-120"/>
              </a:rPr>
              <a:t>+10.3</a:t>
            </a:r>
            <a:endParaRPr lang="en-US" sz="5400" dirty="0"/>
          </a:p>
        </p:txBody>
      </p:sp>
      <p:sp>
        <p:nvSpPr>
          <p:cNvPr id="9" name="Text 6"/>
          <p:cNvSpPr txBox="1"/>
          <p:nvPr/>
        </p:nvSpPr>
        <p:spPr>
          <a:xfrm>
            <a:off x="7863840" y="5029200"/>
            <a:ext cx="3474720" cy="914400"/>
          </a:xfrm>
          <a:prstGeom prst="rect">
            <a:avLst/>
          </a:prstGeom>
          <a:noFill/>
          <a:ln/>
        </p:spPr>
        <p:txBody>
          <a:bodyPr wrap="square" lIns="0" tIns="0" rIns="0" bIns="0" rtlCol="0" anchor="t"/>
          <a:lstStyle/>
          <a:p>
            <a:pPr marL="0" indent="0">
              <a:buNone/>
            </a:pPr>
            <a:r>
              <a:rPr lang="en-US" sz="1700" dirty="0">
                <a:solidFill>
                  <a:srgbClr val="1B1F3B"/>
                </a:solidFill>
                <a:latin typeface="Calibri" pitchFamily="34" charset="0"/>
                <a:ea typeface="Calibri" pitchFamily="34" charset="-122"/>
                <a:cs typeface="Calibri" pitchFamily="34" charset="-120"/>
              </a:rPr>
              <a:t>points above the bar to beat, with capital letters only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Proof: My ML Console Results</a:t>
            </a:r>
            <a:endParaRPr lang="en-US" sz="3600" dirty="0"/>
          </a:p>
        </p:txBody>
      </p:sp>
      <p:sp>
        <p:nvSpPr>
          <p:cNvPr id="3" name="Text 1"/>
          <p:cNvSpPr txBox="1"/>
          <p:nvPr/>
        </p:nvSpPr>
        <p:spPr>
          <a:xfrm>
            <a:off x="640080" y="1280160"/>
            <a:ext cx="10908792" cy="365760"/>
          </a:xfrm>
          <a:prstGeom prst="rect">
            <a:avLst/>
          </a:prstGeom>
          <a:noFill/>
          <a:ln/>
        </p:spPr>
        <p:txBody>
          <a:bodyPr wrap="square" lIns="0" tIns="0" rIns="0" bIns="0" rtlCol="0" anchor="t"/>
          <a:lstStyle/>
          <a:p>
            <a:pPr marL="0" indent="0">
              <a:buNone/>
            </a:pPr>
            <a:r>
              <a:rPr lang="en-US" sz="1600" dirty="0">
                <a:solidFill>
                  <a:srgbClr val="5B6078"/>
                </a:solidFill>
                <a:latin typeface="Calibri" pitchFamily="34" charset="0"/>
                <a:ea typeface="Calibri" pitchFamily="34" charset="-122"/>
                <a:cs typeface="Calibri" pitchFamily="34" charset="-120"/>
              </a:rPr>
              <a:t>Top row: model #2, capital letters only (70.87%).   Bottom row: model #1, all 57 features (92.78%).</a:t>
            </a:r>
            <a:endParaRPr lang="en-US" sz="1600" dirty="0"/>
          </a:p>
        </p:txBody>
      </p:sp>
      <p:sp>
        <p:nvSpPr>
          <p:cNvPr id="4" name="Shape 2"/>
          <p:cNvSpPr/>
          <p:nvPr/>
        </p:nvSpPr>
        <p:spPr>
          <a:xfrm>
            <a:off x="1490102" y="1755648"/>
            <a:ext cx="9211491" cy="4672584"/>
          </a:xfrm>
          <a:prstGeom prst="rect">
            <a:avLst/>
          </a:prstGeom>
          <a:solidFill>
            <a:srgbClr val="FFFFFF"/>
          </a:solidFill>
          <a:ln w="12700">
            <a:solidFill>
              <a:srgbClr val="D5D8E8"/>
            </a:solidFill>
            <a:prstDash val="solid"/>
          </a:ln>
        </p:spPr>
        <p:txBody>
          <a:bodyPr/>
          <a:lstStyle/>
          <a:p>
            <a:endParaRPr lang="en-PH"/>
          </a:p>
        </p:txBody>
      </p:sp>
      <p:pic>
        <p:nvPicPr>
          <p:cNvPr id="5" name="Image 0" descr="ML Console screenshot showing the settings and the accuracy of model #1 (all features, 92.78%) and model #2 (capital letters only, 70.87%)"/>
          <p:cNvPicPr>
            <a:picLocks noChangeAspect="1"/>
          </p:cNvPicPr>
          <p:nvPr/>
        </p:nvPicPr>
        <p:blipFill>
          <a:blip r:embed="rId3"/>
          <a:stretch>
            <a:fillRect/>
          </a:stretch>
        </p:blipFill>
        <p:spPr>
          <a:xfrm>
            <a:off x="1517534" y="1783080"/>
            <a:ext cx="9156627" cy="4617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Why Are Capital Letters Not Enough?</a:t>
            </a:r>
            <a:endParaRPr lang="en-US" sz="3600" dirty="0"/>
          </a:p>
        </p:txBody>
      </p:sp>
      <p:sp>
        <p:nvSpPr>
          <p:cNvPr id="3" name="Shape 1"/>
          <p:cNvSpPr/>
          <p:nvPr/>
        </p:nvSpPr>
        <p:spPr>
          <a:xfrm>
            <a:off x="640080" y="1554480"/>
            <a:ext cx="6126480" cy="2194560"/>
          </a:xfrm>
          <a:prstGeom prst="roundRect">
            <a:avLst>
              <a:gd name="adj" fmla="val 5833"/>
            </a:avLst>
          </a:prstGeom>
          <a:solidFill>
            <a:srgbClr val="F1F2F8"/>
          </a:solidFill>
          <a:ln w="6350">
            <a:solidFill>
              <a:srgbClr val="F1F2F8"/>
            </a:solidFill>
            <a:prstDash val="solid"/>
          </a:ln>
        </p:spPr>
        <p:txBody>
          <a:bodyPr/>
          <a:lstStyle/>
          <a:p>
            <a:endParaRPr lang="en-PH"/>
          </a:p>
        </p:txBody>
      </p:sp>
      <p:sp>
        <p:nvSpPr>
          <p:cNvPr id="4" name="Shape 2"/>
          <p:cNvSpPr/>
          <p:nvPr/>
        </p:nvSpPr>
        <p:spPr>
          <a:xfrm>
            <a:off x="914400" y="1874520"/>
            <a:ext cx="731520" cy="731520"/>
          </a:xfrm>
          <a:prstGeom prst="ellipse">
            <a:avLst/>
          </a:prstGeom>
          <a:solidFill>
            <a:srgbClr val="1B1F3B"/>
          </a:solidFill>
          <a:ln w="6350">
            <a:solidFill>
              <a:srgbClr val="1B1F3B"/>
            </a:solidFill>
            <a:prstDash val="solid"/>
          </a:ln>
        </p:spPr>
        <p:txBody>
          <a:bodyPr/>
          <a:lstStyle/>
          <a:p>
            <a:endParaRPr lang="en-PH"/>
          </a:p>
        </p:txBody>
      </p:sp>
      <p:pic>
        <p:nvPicPr>
          <p:cNvPr id="5" name="Image 0" descr="preencoded.png"/>
          <p:cNvPicPr>
            <a:picLocks noChangeAspect="1"/>
          </p:cNvPicPr>
          <p:nvPr/>
        </p:nvPicPr>
        <p:blipFill>
          <a:blip r:embed="rId3"/>
          <a:stretch>
            <a:fillRect/>
          </a:stretch>
        </p:blipFill>
        <p:spPr>
          <a:xfrm>
            <a:off x="1097280" y="2057400"/>
            <a:ext cx="365760" cy="365760"/>
          </a:xfrm>
          <a:prstGeom prst="rect">
            <a:avLst/>
          </a:prstGeom>
        </p:spPr>
      </p:pic>
      <p:sp>
        <p:nvSpPr>
          <p:cNvPr id="6" name="Text 3"/>
          <p:cNvSpPr txBox="1"/>
          <p:nvPr/>
        </p:nvSpPr>
        <p:spPr>
          <a:xfrm>
            <a:off x="1874520" y="1828800"/>
            <a:ext cx="4754880" cy="411480"/>
          </a:xfrm>
          <a:prstGeom prst="rect">
            <a:avLst/>
          </a:prstGeom>
          <a:noFill/>
          <a:ln/>
        </p:spPr>
        <p:txBody>
          <a:bodyPr wrap="square" lIns="0" tIns="0" rIns="0" bIns="0" rtlCol="0" anchor="t"/>
          <a:lstStyle/>
          <a:p>
            <a:pPr marL="0" indent="0">
              <a:buNone/>
            </a:pPr>
            <a:r>
              <a:rPr lang="en-US" sz="2000" b="1" dirty="0">
                <a:solidFill>
                  <a:srgbClr val="1B1F3B"/>
                </a:solidFill>
                <a:latin typeface="Calibri" pitchFamily="34" charset="0"/>
                <a:ea typeface="Calibri" pitchFamily="34" charset="-122"/>
                <a:cs typeface="Calibri" pitchFamily="34" charset="-120"/>
              </a:rPr>
              <a:t>Style alone lacks context</a:t>
            </a:r>
            <a:endParaRPr lang="en-US" sz="2000" dirty="0"/>
          </a:p>
        </p:txBody>
      </p:sp>
      <p:sp>
        <p:nvSpPr>
          <p:cNvPr id="7" name="Text 4"/>
          <p:cNvSpPr txBox="1"/>
          <p:nvPr/>
        </p:nvSpPr>
        <p:spPr>
          <a:xfrm>
            <a:off x="1874520" y="2331720"/>
            <a:ext cx="4663440" cy="1371600"/>
          </a:xfrm>
          <a:prstGeom prst="rect">
            <a:avLst/>
          </a:prstGeom>
          <a:noFill/>
          <a:ln/>
        </p:spPr>
        <p:txBody>
          <a:bodyPr wrap="square" lIns="0" tIns="0" rIns="0" bIns="0" rtlCol="0" anchor="t"/>
          <a:lstStyle/>
          <a:p>
            <a:pPr marL="0" indent="0">
              <a:buNone/>
            </a:pPr>
            <a:r>
              <a:rPr lang="en-US" sz="1700" dirty="0">
                <a:solidFill>
                  <a:srgbClr val="5B6078"/>
                </a:solidFill>
                <a:latin typeface="Calibri" pitchFamily="34" charset="0"/>
                <a:ea typeface="Calibri" pitchFamily="34" charset="-122"/>
                <a:cs typeface="Calibri" pitchFamily="34" charset="-120"/>
              </a:rPr>
              <a:t>A real email can have lots of capitals (like an urgent work project), and spam can be written in lowercase. Without trigger words or symbols, the model misses key clues.</a:t>
            </a:r>
            <a:endParaRPr lang="en-US" sz="1700" dirty="0"/>
          </a:p>
        </p:txBody>
      </p:sp>
      <p:sp>
        <p:nvSpPr>
          <p:cNvPr id="8" name="Shape 5"/>
          <p:cNvSpPr/>
          <p:nvPr/>
        </p:nvSpPr>
        <p:spPr>
          <a:xfrm>
            <a:off x="640080" y="3931920"/>
            <a:ext cx="6126480" cy="2194560"/>
          </a:xfrm>
          <a:prstGeom prst="roundRect">
            <a:avLst>
              <a:gd name="adj" fmla="val 5833"/>
            </a:avLst>
          </a:prstGeom>
          <a:solidFill>
            <a:srgbClr val="F1F2F8"/>
          </a:solidFill>
          <a:ln w="6350">
            <a:solidFill>
              <a:srgbClr val="F1F2F8"/>
            </a:solidFill>
            <a:prstDash val="solid"/>
          </a:ln>
        </p:spPr>
        <p:txBody>
          <a:bodyPr/>
          <a:lstStyle/>
          <a:p>
            <a:endParaRPr lang="en-PH"/>
          </a:p>
        </p:txBody>
      </p:sp>
      <p:sp>
        <p:nvSpPr>
          <p:cNvPr id="9" name="Shape 6"/>
          <p:cNvSpPr/>
          <p:nvPr/>
        </p:nvSpPr>
        <p:spPr>
          <a:xfrm>
            <a:off x="914400" y="4251960"/>
            <a:ext cx="731520" cy="731520"/>
          </a:xfrm>
          <a:prstGeom prst="ellipse">
            <a:avLst/>
          </a:prstGeom>
          <a:solidFill>
            <a:srgbClr val="E4572E"/>
          </a:solidFill>
          <a:ln w="6350">
            <a:solidFill>
              <a:srgbClr val="E4572E"/>
            </a:solidFill>
            <a:prstDash val="solid"/>
          </a:ln>
        </p:spPr>
        <p:txBody>
          <a:bodyPr/>
          <a:lstStyle/>
          <a:p>
            <a:endParaRPr lang="en-PH"/>
          </a:p>
        </p:txBody>
      </p:sp>
      <p:pic>
        <p:nvPicPr>
          <p:cNvPr id="10" name="Image 1" descr="preencoded.png"/>
          <p:cNvPicPr>
            <a:picLocks noChangeAspect="1"/>
          </p:cNvPicPr>
          <p:nvPr/>
        </p:nvPicPr>
        <p:blipFill>
          <a:blip r:embed="rId4"/>
          <a:stretch>
            <a:fillRect/>
          </a:stretch>
        </p:blipFill>
        <p:spPr>
          <a:xfrm>
            <a:off x="1097280" y="4434840"/>
            <a:ext cx="365760" cy="365760"/>
          </a:xfrm>
          <a:prstGeom prst="rect">
            <a:avLst/>
          </a:prstGeom>
        </p:spPr>
      </p:pic>
      <p:sp>
        <p:nvSpPr>
          <p:cNvPr id="11" name="Text 7"/>
          <p:cNvSpPr txBox="1"/>
          <p:nvPr/>
        </p:nvSpPr>
        <p:spPr>
          <a:xfrm>
            <a:off x="1874520" y="4206240"/>
            <a:ext cx="4754880" cy="411480"/>
          </a:xfrm>
          <a:prstGeom prst="rect">
            <a:avLst/>
          </a:prstGeom>
          <a:noFill/>
          <a:ln/>
        </p:spPr>
        <p:txBody>
          <a:bodyPr wrap="square" lIns="0" tIns="0" rIns="0" bIns="0" rtlCol="0" anchor="t"/>
          <a:lstStyle/>
          <a:p>
            <a:pPr marL="0" indent="0">
              <a:buNone/>
            </a:pPr>
            <a:r>
              <a:rPr lang="en-US" sz="2000" b="1" dirty="0">
                <a:solidFill>
                  <a:srgbClr val="1B1F3B"/>
                </a:solidFill>
                <a:latin typeface="Calibri" pitchFamily="34" charset="0"/>
                <a:ea typeface="Calibri" pitchFamily="34" charset="-122"/>
                <a:cs typeface="Calibri" pitchFamily="34" charset="-120"/>
              </a:rPr>
              <a:t>The numbers are extreme (a likely reason)</a:t>
            </a:r>
            <a:endParaRPr lang="en-US" sz="2000" dirty="0"/>
          </a:p>
        </p:txBody>
      </p:sp>
      <p:sp>
        <p:nvSpPr>
          <p:cNvPr id="12" name="Text 8"/>
          <p:cNvSpPr txBox="1"/>
          <p:nvPr/>
        </p:nvSpPr>
        <p:spPr>
          <a:xfrm>
            <a:off x="1874520" y="4709160"/>
            <a:ext cx="4663440" cy="1371600"/>
          </a:xfrm>
          <a:prstGeom prst="rect">
            <a:avLst/>
          </a:prstGeom>
          <a:noFill/>
          <a:ln/>
        </p:spPr>
        <p:txBody>
          <a:bodyPr wrap="square" lIns="0" tIns="0" rIns="0" bIns="0" rtlCol="0" anchor="t"/>
          <a:lstStyle/>
          <a:p>
            <a:pPr marL="0" indent="0">
              <a:buNone/>
            </a:pPr>
            <a:r>
              <a:rPr lang="en-US" sz="1700" dirty="0">
                <a:solidFill>
                  <a:srgbClr val="5B6078"/>
                </a:solidFill>
                <a:latin typeface="Calibri" pitchFamily="34" charset="0"/>
                <a:ea typeface="Calibri" pitchFamily="34" charset="-122"/>
                <a:cs typeface="Calibri" pitchFamily="34" charset="-120"/>
              </a:rPr>
              <a:t>A typical email has about 95 capital letters, but some have over 15,000. A neural network multiplies raw numbers, so huge unscaled values make it harder to train cleanly.</a:t>
            </a:r>
            <a:endParaRPr lang="en-US" sz="1700" dirty="0"/>
          </a:p>
        </p:txBody>
      </p:sp>
      <p:sp>
        <p:nvSpPr>
          <p:cNvPr id="13" name="Text 9"/>
          <p:cNvSpPr txBox="1"/>
          <p:nvPr/>
        </p:nvSpPr>
        <p:spPr>
          <a:xfrm>
            <a:off x="7132320" y="1554480"/>
            <a:ext cx="4416552" cy="365760"/>
          </a:xfrm>
          <a:prstGeom prst="rect">
            <a:avLst/>
          </a:prstGeom>
          <a:noFill/>
          <a:ln/>
        </p:spPr>
        <p:txBody>
          <a:bodyPr wrap="square" lIns="0" tIns="0" rIns="0" bIns="0" rtlCol="0" anchor="t"/>
          <a:lstStyle/>
          <a:p>
            <a:pPr marL="0" indent="0">
              <a:buNone/>
            </a:pPr>
            <a:r>
              <a:rPr lang="en-US" sz="1600" b="1" dirty="0">
                <a:solidFill>
                  <a:srgbClr val="1B1F3B"/>
                </a:solidFill>
                <a:latin typeface="Calibri" pitchFamily="34" charset="0"/>
                <a:ea typeface="Calibri" pitchFamily="34" charset="-122"/>
                <a:cs typeface="Calibri" pitchFamily="34" charset="-120"/>
              </a:rPr>
              <a:t>Real rows from the capital-letter data</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132320" y="2011680"/>
          <a:ext cx="4416552" cy="3328416"/>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673352">
                  <a:extLst>
                    <a:ext uri="{9D8B030D-6E8A-4147-A177-3AD203B41FA5}">
                      <a16:colId xmlns:a16="http://schemas.microsoft.com/office/drawing/2014/main" val="20003"/>
                    </a:ext>
                  </a:extLst>
                </a:gridCol>
              </a:tblGrid>
              <a:tr h="475488">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average</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solidFill>
                      <a:srgbClr val="1B1F3B"/>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longest</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solidFill>
                      <a:srgbClr val="1B1F3B"/>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solidFill>
                      <a:srgbClr val="1B1F3B"/>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label</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solidFill>
                      <a:srgbClr val="1B1F3B"/>
                    </a:solidFill>
                  </a:tcPr>
                </a:tc>
                <a:extLst>
                  <a:ext uri="{0D108BD9-81ED-4DB2-BD59-A6C34878D82A}">
                    <a16:rowId xmlns:a16="http://schemas.microsoft.com/office/drawing/2014/main" val="10000"/>
                  </a:ext>
                </a:extLst>
              </a:tr>
              <a:tr h="475488">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b="1" dirty="0">
                          <a:solidFill>
                            <a:srgbClr val="17A398"/>
                          </a:solidFill>
                          <a:latin typeface="Calibri" pitchFamily="34" charset="0"/>
                          <a:ea typeface="Calibri" pitchFamily="34" charset="-122"/>
                          <a:cs typeface="Calibri" pitchFamily="34" charset="-120"/>
                        </a:rPr>
                        <a:t>not_spam</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9.31</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235</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1108</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b="1" dirty="0">
                          <a:solidFill>
                            <a:srgbClr val="17A398"/>
                          </a:solidFill>
                          <a:latin typeface="Calibri" pitchFamily="34" charset="0"/>
                          <a:ea typeface="Calibri" pitchFamily="34" charset="-122"/>
                          <a:cs typeface="Calibri" pitchFamily="34" charset="-120"/>
                        </a:rPr>
                        <a:t>not_spam</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3.075</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326</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b="1" dirty="0">
                          <a:solidFill>
                            <a:srgbClr val="E4572E"/>
                          </a:solidFill>
                          <a:latin typeface="Calibri" pitchFamily="34" charset="0"/>
                          <a:ea typeface="Calibri" pitchFamily="34" charset="-122"/>
                          <a:cs typeface="Calibri" pitchFamily="34" charset="-120"/>
                        </a:rPr>
                        <a:t>spam</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5.15</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82</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582</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b="1" dirty="0">
                          <a:solidFill>
                            <a:srgbClr val="17A398"/>
                          </a:solidFill>
                          <a:latin typeface="Calibri" pitchFamily="34" charset="0"/>
                          <a:ea typeface="Calibri" pitchFamily="34" charset="-122"/>
                          <a:cs typeface="Calibri" pitchFamily="34" charset="-120"/>
                        </a:rPr>
                        <a:t>not_spam</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2.184</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166</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b="1" dirty="0">
                          <a:solidFill>
                            <a:srgbClr val="E4572E"/>
                          </a:solidFill>
                          <a:latin typeface="Calibri" pitchFamily="34" charset="0"/>
                          <a:ea typeface="Calibri" pitchFamily="34" charset="-122"/>
                          <a:cs typeface="Calibri" pitchFamily="34" charset="-120"/>
                        </a:rPr>
                        <a:t>spam</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4.043</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dirty="0">
                          <a:solidFill>
                            <a:srgbClr val="1B1F3B"/>
                          </a:solidFill>
                          <a:latin typeface="Calibri" pitchFamily="34" charset="0"/>
                          <a:ea typeface="Calibri" pitchFamily="34" charset="-122"/>
                          <a:cs typeface="Calibri" pitchFamily="34" charset="-120"/>
                        </a:rPr>
                        <a:t>186</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tc>
                  <a:txBody>
                    <a:bodyPr/>
                    <a:lstStyle/>
                    <a:p>
                      <a:pPr marL="0" indent="0" algn="ctr">
                        <a:buNone/>
                      </a:pPr>
                      <a:r>
                        <a:rPr lang="en-US" sz="1500" b="1" dirty="0">
                          <a:solidFill>
                            <a:srgbClr val="17A398"/>
                          </a:solidFill>
                          <a:latin typeface="Calibri" pitchFamily="34" charset="0"/>
                          <a:ea typeface="Calibri" pitchFamily="34" charset="-122"/>
                          <a:cs typeface="Calibri" pitchFamily="34" charset="-120"/>
                        </a:rPr>
                        <a:t>not_spam</a:t>
                      </a:r>
                      <a:endParaRPr lang="en-US" sz="1500" dirty="0">
                        <a:latin typeface="Calibri" charset="0"/>
                        <a:ea typeface="Calibri" charset="0"/>
                        <a:cs typeface="Calibri" charset="0"/>
                      </a:endParaRPr>
                    </a:p>
                  </a:txBody>
                  <a:tcPr anchor="ctr">
                    <a:lnL w="12700" cap="flat" cmpd="sng" algn="ctr">
                      <a:solidFill>
                        <a:srgbClr val="D5D8E8"/>
                      </a:solidFill>
                      <a:prstDash val="solid"/>
                      <a:round/>
                      <a:headEnd type="none" w="med" len="med"/>
                      <a:tailEnd type="none" w="med" len="med"/>
                    </a:lnL>
                    <a:lnR w="12700" cap="flat" cmpd="sng" algn="ctr">
                      <a:solidFill>
                        <a:srgbClr val="D5D8E8"/>
                      </a:solidFill>
                      <a:prstDash val="solid"/>
                      <a:round/>
                      <a:headEnd type="none" w="med" len="med"/>
                      <a:tailEnd type="none" w="med" len="med"/>
                    </a:lnR>
                    <a:lnT w="12700" cap="flat" cmpd="sng" algn="ctr">
                      <a:solidFill>
                        <a:srgbClr val="D5D8E8"/>
                      </a:solidFill>
                      <a:prstDash val="solid"/>
                      <a:round/>
                      <a:headEnd type="none" w="med" len="med"/>
                      <a:tailEnd type="none" w="med" len="med"/>
                    </a:lnT>
                    <a:lnB w="12700" cap="flat" cmpd="sng" algn="ctr">
                      <a:solidFill>
                        <a:srgbClr val="D5D8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5" name="Text 10"/>
          <p:cNvSpPr txBox="1"/>
          <p:nvPr/>
        </p:nvSpPr>
        <p:spPr>
          <a:xfrm>
            <a:off x="7132320" y="5486400"/>
            <a:ext cx="4416552" cy="548640"/>
          </a:xfrm>
          <a:prstGeom prst="rect">
            <a:avLst/>
          </a:prstGeom>
          <a:noFill/>
          <a:ln/>
        </p:spPr>
        <p:txBody>
          <a:bodyPr wrap="square" lIns="0" tIns="0" rIns="0" bIns="0" rtlCol="0" anchor="t"/>
          <a:lstStyle/>
          <a:p>
            <a:pPr marL="0" indent="0">
              <a:buNone/>
            </a:pPr>
            <a:r>
              <a:rPr lang="en-US" sz="1400" dirty="0">
                <a:solidFill>
                  <a:srgbClr val="5B6078"/>
                </a:solidFill>
                <a:latin typeface="Calibri" pitchFamily="34" charset="0"/>
                <a:ea typeface="Calibri" pitchFamily="34" charset="-122"/>
                <a:cs typeface="Calibri" pitchFamily="34" charset="-120"/>
              </a:rPr>
              <a:t>Look how much the totals jump around, from 7 to 1108 in just six rows.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3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The Answer</a:t>
            </a:r>
            <a:endParaRPr lang="en-US" sz="3600" dirty="0"/>
          </a:p>
        </p:txBody>
      </p:sp>
      <p:sp>
        <p:nvSpPr>
          <p:cNvPr id="3" name="Text 1"/>
          <p:cNvSpPr txBox="1"/>
          <p:nvPr/>
        </p:nvSpPr>
        <p:spPr>
          <a:xfrm>
            <a:off x="640080" y="1554480"/>
            <a:ext cx="10908792" cy="14630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To spot spam, a model needs the actual content: the specific words and symbols.</a:t>
            </a:r>
            <a:endParaRPr lang="en-US" sz="3400" dirty="0"/>
          </a:p>
        </p:txBody>
      </p:sp>
      <p:sp>
        <p:nvSpPr>
          <p:cNvPr id="4" name="Shape 2"/>
          <p:cNvSpPr/>
          <p:nvPr/>
        </p:nvSpPr>
        <p:spPr>
          <a:xfrm>
            <a:off x="640080" y="3337560"/>
            <a:ext cx="5303520" cy="1600200"/>
          </a:xfrm>
          <a:prstGeom prst="roundRect">
            <a:avLst>
              <a:gd name="adj" fmla="val 8000"/>
            </a:avLst>
          </a:prstGeom>
          <a:solidFill>
            <a:srgbClr val="2A2F57"/>
          </a:solidFill>
          <a:ln w="6350">
            <a:solidFill>
              <a:srgbClr val="2A2F57"/>
            </a:solidFill>
            <a:prstDash val="solid"/>
          </a:ln>
        </p:spPr>
        <p:txBody>
          <a:bodyPr/>
          <a:lstStyle/>
          <a:p>
            <a:endParaRPr lang="en-PH"/>
          </a:p>
        </p:txBody>
      </p:sp>
      <p:sp>
        <p:nvSpPr>
          <p:cNvPr id="5" name="Text 3"/>
          <p:cNvSpPr txBox="1"/>
          <p:nvPr/>
        </p:nvSpPr>
        <p:spPr>
          <a:xfrm>
            <a:off x="960120" y="3429000"/>
            <a:ext cx="2834640" cy="1417320"/>
          </a:xfrm>
          <a:prstGeom prst="rect">
            <a:avLst/>
          </a:prstGeom>
          <a:noFill/>
          <a:ln/>
        </p:spPr>
        <p:txBody>
          <a:bodyPr wrap="square" lIns="0" tIns="0" rIns="0" bIns="0" rtlCol="0" anchor="ctr"/>
          <a:lstStyle/>
          <a:p>
            <a:pPr marL="0" indent="0">
              <a:buNone/>
            </a:pPr>
            <a:r>
              <a:rPr lang="en-US" sz="4400" b="1" dirty="0">
                <a:solidFill>
                  <a:srgbClr val="7FE0D6"/>
                </a:solidFill>
                <a:latin typeface="Cambria" pitchFamily="34" charset="0"/>
                <a:ea typeface="Cambria" pitchFamily="34" charset="-122"/>
                <a:cs typeface="Cambria" pitchFamily="34" charset="-120"/>
              </a:rPr>
              <a:t>92.78%</a:t>
            </a:r>
            <a:endParaRPr lang="en-US" sz="4400" dirty="0"/>
          </a:p>
        </p:txBody>
      </p:sp>
      <p:sp>
        <p:nvSpPr>
          <p:cNvPr id="6" name="Text 4"/>
          <p:cNvSpPr txBox="1"/>
          <p:nvPr/>
        </p:nvSpPr>
        <p:spPr>
          <a:xfrm>
            <a:off x="3886200" y="3429000"/>
            <a:ext cx="1874520" cy="141732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with words and symbols</a:t>
            </a:r>
            <a:endParaRPr lang="en-US" sz="1900" dirty="0"/>
          </a:p>
        </p:txBody>
      </p:sp>
      <p:sp>
        <p:nvSpPr>
          <p:cNvPr id="7" name="Shape 5"/>
          <p:cNvSpPr/>
          <p:nvPr/>
        </p:nvSpPr>
        <p:spPr>
          <a:xfrm>
            <a:off x="6245352" y="3337560"/>
            <a:ext cx="5303520" cy="1600200"/>
          </a:xfrm>
          <a:prstGeom prst="roundRect">
            <a:avLst>
              <a:gd name="adj" fmla="val 8000"/>
            </a:avLst>
          </a:prstGeom>
          <a:solidFill>
            <a:srgbClr val="2A2F57"/>
          </a:solidFill>
          <a:ln w="6350">
            <a:solidFill>
              <a:srgbClr val="2A2F57"/>
            </a:solidFill>
            <a:prstDash val="solid"/>
          </a:ln>
        </p:spPr>
        <p:txBody>
          <a:bodyPr/>
          <a:lstStyle/>
          <a:p>
            <a:endParaRPr lang="en-PH"/>
          </a:p>
        </p:txBody>
      </p:sp>
      <p:sp>
        <p:nvSpPr>
          <p:cNvPr id="8" name="Text 6"/>
          <p:cNvSpPr txBox="1"/>
          <p:nvPr/>
        </p:nvSpPr>
        <p:spPr>
          <a:xfrm>
            <a:off x="6565392" y="3429000"/>
            <a:ext cx="2834640" cy="1417320"/>
          </a:xfrm>
          <a:prstGeom prst="rect">
            <a:avLst/>
          </a:prstGeom>
          <a:noFill/>
          <a:ln/>
        </p:spPr>
        <p:txBody>
          <a:bodyPr wrap="square" lIns="0" tIns="0" rIns="0" bIns="0" rtlCol="0" anchor="ctr"/>
          <a:lstStyle/>
          <a:p>
            <a:pPr marL="0" indent="0">
              <a:buNone/>
            </a:pPr>
            <a:r>
              <a:rPr lang="en-US" sz="4400" b="1" dirty="0">
                <a:solidFill>
                  <a:srgbClr val="FF8A66"/>
                </a:solidFill>
                <a:latin typeface="Cambria" pitchFamily="34" charset="0"/>
                <a:ea typeface="Cambria" pitchFamily="34" charset="-122"/>
                <a:cs typeface="Cambria" pitchFamily="34" charset="-120"/>
              </a:rPr>
              <a:t>70.87%</a:t>
            </a:r>
            <a:endParaRPr lang="en-US" sz="4400" dirty="0"/>
          </a:p>
        </p:txBody>
      </p:sp>
      <p:sp>
        <p:nvSpPr>
          <p:cNvPr id="9" name="Text 7"/>
          <p:cNvSpPr txBox="1"/>
          <p:nvPr/>
        </p:nvSpPr>
        <p:spPr>
          <a:xfrm>
            <a:off x="9491472" y="3429000"/>
            <a:ext cx="1874520" cy="141732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with capital letters only</a:t>
            </a:r>
            <a:endParaRPr lang="en-US" sz="1900" dirty="0"/>
          </a:p>
        </p:txBody>
      </p:sp>
      <p:sp>
        <p:nvSpPr>
          <p:cNvPr id="10" name="Text 8"/>
          <p:cNvSpPr txBox="1"/>
          <p:nvPr/>
        </p:nvSpPr>
        <p:spPr>
          <a:xfrm>
            <a:off x="640080" y="5303520"/>
            <a:ext cx="10908792" cy="822960"/>
          </a:xfrm>
          <a:prstGeom prst="rect">
            <a:avLst/>
          </a:prstGeom>
          <a:noFill/>
          <a:ln/>
        </p:spPr>
        <p:txBody>
          <a:bodyPr wrap="square" lIns="0" tIns="0" rIns="0" bIns="0" rtlCol="0" anchor="t"/>
          <a:lstStyle/>
          <a:p>
            <a:pPr marL="0" indent="0">
              <a:buNone/>
            </a:pPr>
            <a:r>
              <a:rPr lang="en-US" sz="2200" dirty="0">
                <a:solidFill>
                  <a:srgbClr val="C9CCE3"/>
                </a:solidFill>
                <a:latin typeface="Calibri" pitchFamily="34" charset="0"/>
                <a:ea typeface="Calibri" pitchFamily="34" charset="-122"/>
                <a:cs typeface="Calibri" pitchFamily="34" charset="-120"/>
              </a:rPr>
              <a:t>Capital letters can hint at spam, but they are not enough to build a reliable filter.</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a:effectLst/>
      </p:bgPr>
    </p:bg>
    <p:spTree>
      <p:nvGrpSpPr>
        <p:cNvPr id="1" name=""/>
        <p:cNvGrpSpPr/>
        <p:nvPr/>
      </p:nvGrpSpPr>
      <p:grpSpPr>
        <a:xfrm>
          <a:off x="0" y="0"/>
          <a:ext cx="0" cy="0"/>
          <a:chOff x="0" y="0"/>
          <a:chExt cx="0" cy="0"/>
        </a:xfrm>
      </p:grpSpPr>
      <p:sp>
        <p:nvSpPr>
          <p:cNvPr id="2" name="Text 0"/>
          <p:cNvSpPr txBox="1"/>
          <p:nvPr/>
        </p:nvSpPr>
        <p:spPr>
          <a:xfrm>
            <a:off x="822960" y="2011680"/>
            <a:ext cx="6858000" cy="118872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822960" y="3291840"/>
            <a:ext cx="6858000" cy="822960"/>
          </a:xfrm>
          <a:prstGeom prst="rect">
            <a:avLst/>
          </a:prstGeom>
          <a:noFill/>
          <a:ln/>
        </p:spPr>
        <p:txBody>
          <a:bodyPr wrap="square" lIns="0" tIns="0" rIns="0" bIns="0" rtlCol="0" anchor="t"/>
          <a:lstStyle/>
          <a:p>
            <a:pPr marL="0" indent="0">
              <a:buNone/>
            </a:pPr>
            <a:r>
              <a:rPr lang="en-US" sz="3600" dirty="0">
                <a:solidFill>
                  <a:srgbClr val="7FE0D6"/>
                </a:solidFill>
                <a:latin typeface="Cambria" pitchFamily="34" charset="0"/>
                <a:ea typeface="Cambria" pitchFamily="34" charset="-122"/>
                <a:cs typeface="Cambria" pitchFamily="34" charset="-120"/>
              </a:rPr>
              <a:t>Any questions?</a:t>
            </a:r>
            <a:endParaRPr lang="en-US" sz="3600" dirty="0"/>
          </a:p>
        </p:txBody>
      </p:sp>
      <p:sp>
        <p:nvSpPr>
          <p:cNvPr id="4" name="Shape 2"/>
          <p:cNvSpPr/>
          <p:nvPr/>
        </p:nvSpPr>
        <p:spPr>
          <a:xfrm>
            <a:off x="8412480" y="1737360"/>
            <a:ext cx="2926080" cy="2926080"/>
          </a:xfrm>
          <a:prstGeom prst="ellipse">
            <a:avLst/>
          </a:prstGeom>
          <a:solidFill>
            <a:srgbClr val="17A398"/>
          </a:solidFill>
          <a:ln w="6350">
            <a:solidFill>
              <a:srgbClr val="17A398"/>
            </a:solidFill>
            <a:prstDash val="solid"/>
          </a:ln>
        </p:spPr>
        <p:txBody>
          <a:bodyPr/>
          <a:lstStyle/>
          <a:p>
            <a:endParaRPr lang="en-PH"/>
          </a:p>
        </p:txBody>
      </p:sp>
      <p:pic>
        <p:nvPicPr>
          <p:cNvPr id="5" name="Image 0" descr="preencoded.png"/>
          <p:cNvPicPr>
            <a:picLocks noChangeAspect="1"/>
          </p:cNvPicPr>
          <p:nvPr/>
        </p:nvPicPr>
        <p:blipFill>
          <a:blip r:embed="rId3"/>
          <a:stretch>
            <a:fillRect/>
          </a:stretch>
        </p:blipFill>
        <p:spPr>
          <a:xfrm>
            <a:off x="9326880" y="2651760"/>
            <a:ext cx="1097280"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1228</Words>
  <Application>Microsoft Office PowerPoint</Application>
  <PresentationFormat>Widescreen</PresentationFormat>
  <Paragraphs>127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 Email Detection: What Does a Model Need?</dc:title>
  <dc:subject>PptxGenJS Presentation</dc:subject>
  <dc:creator>PptxGenJS</dc:creator>
  <cp:lastModifiedBy>scriptz ware</cp:lastModifiedBy>
  <cp:revision>2</cp:revision>
  <dcterms:created xsi:type="dcterms:W3CDTF">2026-09-21T10:23:14Z</dcterms:created>
  <dcterms:modified xsi:type="dcterms:W3CDTF">2026-09-21T10:25:53Z</dcterms:modified>
</cp:coreProperties>
</file>